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r>
              <a:t>NLDAS forcing: https://ldas.gsfc.nasa.gov/nldas/v2/forcing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MRMS current operational tables indicate approximately 20-minute Pass 1 and 60-minute Pass 2 latency. Older versions used approximately 60 and 120 minutes. Stage-IV availability and revisions vary by RFC and accumulation period; no universal latency is asserted. PRISM uses the 4-km archive in this project, although other resolutions exist.</a:t>
            </a:r>
          </a:p>
          <a:p/>
          <a:p>
            <a:r>
              <a:t>Project references: docs/forcing_production_workflow.md; docs/nrt_gfs_operations.md; docs/nwm_time_conventions.md.</a:t>
            </a:r>
          </a:p>
          <a:p>
            <a:r>
              <a:t>MRMS: https://www.nssl.noaa.gov/projects/mrms/operational/tables.php</a:t>
            </a:r>
          </a:p>
          <a:p>
            <a:r>
              <a:t>MRMS versions: https://inside.nssl.noaa.gov/mrms/past-code-updates/</a:t>
            </a:r>
          </a:p>
          <a:p>
            <a:r>
              <a:t>Stage IV: https://www.emc.ncep.noaa.gov/mmb/research/stage4.FAQ.html</a:t>
            </a:r>
          </a:p>
          <a:p>
            <a:r>
              <a:t>PRISM: https://www.prism.oregonstate.edu/calendar/</a:t>
            </a:r>
          </a:p>
          <a:p>
            <a:r>
              <a:t>PRISM grids: https://prism.oregonstate.edu/data/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r>
              <a:t>NLDAS: https://ldas.gsfc.nasa.gov/nldas</a:t>
            </a:r>
          </a:p>
          <a:p>
            <a:r>
              <a:t>NLDAS forcing: https://ldas.gsfc.nasa.gov/nldas/v2/forcing</a:t>
            </a:r>
          </a:p>
          <a:p>
            <a:r>
              <a:t>HRRR: https://emc.ncep.noaa.gov/emc/pages/numerical_forecast_systems/hrrr.php</a:t>
            </a:r>
          </a:p>
          <a:p>
            <a:r>
              <a:t>GFS: https://www.nco.ncep.noaa.gov/pmb/products/gfs/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r>
              <a:t>PRISM: https://www.prism.oregonstate.edu/calendar/</a:t>
            </a:r>
          </a:p>
          <a:p>
            <a:r>
              <a:t>NLDAS: https://ldas.gsfc.nasa.gov/nldas</a:t>
            </a:r>
          </a:p>
          <a:p>
            <a:r>
              <a:t>MRMS: https://www.nssl.noaa.gov/projects/mrms/operational/tables.php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 only, not observed data. Production uses PRISM 12–12 UTC accumulation windows, then regroups output into calendar-day files. Real reconciliation includes validity, dry/wet, scaling and domain checks, so not every cell follows an unconstrained ratio.</a:t>
            </a:r>
          </a:p>
          <a:p/>
          <a:p>
            <a:r>
              <a:t>Project references: docs/forcing_production_workflow.md; docs/nrt_gfs_operations.md; docs/nwm_time_conventions.md.</a:t>
            </a:r>
          </a:p>
          <a:p>
            <a:r>
              <a:t>PRISM: https://www.prism.oregonstate.edu/calendar/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r>
              <a:t>Cosgrove: https://doi.org/10.1029/2002JD003118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is conceptual, not a geographic map. Actual coverage uses cached native-HRRR geometry and the versioned static envelope. Do not infer a latitude boundary from the rectangles. NLDAS-2 selection is per hour. GFS uses one meteorological bundle/cycle and elevation adjustments; valid precipitation is preserved. Missing required GFS fails the affected update, retaining previously accepted files.</a:t>
            </a:r>
          </a:p>
          <a:p/>
          <a:p>
            <a:r>
              <a:t>Project references: docs/forcing_production_workflow.md; docs/nrt_gfs_operations.md; docs/nwm_time_conventions.md.</a:t>
            </a:r>
          </a:p>
          <a:p>
            <a:r>
              <a:t>GFS: https://www.nco.ncep.noaa.gov/pmb/products/gfs/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cron/hydro_ops.crontab and bin/update_nwm_forcing.py cycle_window, checked 2026-09-19. Six-hourly target scan 10 days with 14-day source repair lookback; daily 200 days; recent GFS worker tail seven days. Both NRT lanes end at UTC today minus two days. Monthly retro scans 45 target days ending today minus 183 days and still requires stable PRISM acceptance. These are scan windows, not mandatory rebuild counts. Faster event-driven/current-day delivery and daily retro eligibility scans are proposed, not activated.</a:t>
            </a:r>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p>
            <a:r>
              <a:t>1979-01-01 is a partial 11-hour forcing day because NLDAS begins at 13 UTC. It is not a full-day model start. Cleanup is deferred in the active 2003–2020-10-13 campaign. Stable PRISM can change under a major source dataset release; preserve version provenance. HRRR anomaly refinement is not validated/enabled as a retrospective default.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p>
            <a:r>
              <a:t>Run from repository root in the hydro-ops environment: python bin/report_forcing_status.py. JSON: python bin/report_forcing_status.py --format json --output forcing/status/forcing-status.json. Status scans filenames/metadata, not a full scientific audit. Daily files deliberately have no .nc suffix. Baseline is an intermediate, not an alternative public stream.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Project references: docs/forcing_production_workflow.md; docs/nrt_gfs_operations.md; docs/nwm_time_conventions.md.</a:t>
            </a:r>
          </a:p>
          <a:p/>
          <a:p>
            <a:r>
              <a:t>NLDAS: https://ldas.gsfc.nasa.gov/nldas</a:t>
            </a:r>
          </a:p>
          <a:p>
            <a:r>
              <a:t>NLDAS forcing: https://ldas.gsfc.nasa.gov/nldas/v2/forcing</a:t>
            </a:r>
          </a:p>
          <a:p>
            <a:r>
              <a:t>HRRR: https://emc.ncep.noaa.gov/emc/pages/numerical_forecast_systems/hrrr.php</a:t>
            </a:r>
          </a:p>
          <a:p>
            <a:r>
              <a:t>MRMS: https://www.nssl.noaa.gov/projects/mrms/operational/tables.php</a:t>
            </a:r>
          </a:p>
          <a:p>
            <a:r>
              <a:t>MRMS versions: https://inside.nssl.noaa.gov/mrms/past-code-updates/</a:t>
            </a:r>
          </a:p>
          <a:p>
            <a:r>
              <a:t>Stage IV: https://www.emc.ncep.noaa.gov/mmb/research/stage4.FAQ.html</a:t>
            </a:r>
          </a:p>
          <a:p>
            <a:r>
              <a:t>PRISM: https://www.prism.oregonstate.edu/calendar/</a:t>
            </a:r>
          </a:p>
          <a:p>
            <a:r>
              <a:t>PRISM grids: https://prism.oregonstate.edu/data/</a:t>
            </a:r>
          </a:p>
          <a:p>
            <a:r>
              <a:t>GFS: https://www.nco.ncep.noaa.gov/pmb/products/gfs/</a:t>
            </a:r>
          </a:p>
          <a:p>
            <a:r>
              <a:t>Cosgrove: https://doi.org/10.1029/2002JD003118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FORCING SUB-PROJECT</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Informed forcing for CONUS-wide NWM</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A user guide to the data—not just the files</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01</a:t>
            </a:r>
          </a:p>
        </p:txBody>
      </p:sp>
      <p:sp>
        <p:nvSpPr>
          <p:cNvPr id="8" name="Rounded Rectangle 7"/>
          <p:cNvSpPr/>
          <p:nvPr/>
        </p:nvSpPr>
        <p:spPr>
          <a:xfrm>
            <a:off x="548640" y="2423160"/>
            <a:ext cx="33375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43200"/>
            <a:ext cx="2926080" cy="777240"/>
          </a:xfrm>
          <a:prstGeom prst="rect">
            <a:avLst/>
          </a:prstGeom>
          <a:noFill/>
        </p:spPr>
        <p:txBody>
          <a:bodyPr wrap="none" lIns="0" rIns="0" tIns="0" bIns="0">
            <a:spAutoFit/>
          </a:bodyPr>
          <a:lstStyle/>
          <a:p>
            <a:pPr>
              <a:lnSpc>
                <a:spcPts val="4094"/>
              </a:lnSpc>
              <a:spcBef>
                <a:spcPts val="0"/>
              </a:spcBef>
              <a:spcAft>
                <a:spcPts val="0"/>
              </a:spcAft>
              <a:defRPr sz="3500" b="1">
                <a:solidFill>
                  <a:srgbClr val="087F8C"/>
                </a:solidFill>
                <a:latin typeface="DejaVu Sans"/>
              </a:defRPr>
            </a:pPr>
            <a:r>
              <a:t>1 km</a:t>
            </a:r>
          </a:p>
        </p:txBody>
      </p:sp>
      <p:sp>
        <p:nvSpPr>
          <p:cNvPr id="10" name="TextBox 9"/>
          <p:cNvSpPr txBox="1"/>
          <p:nvPr/>
        </p:nvSpPr>
        <p:spPr>
          <a:xfrm>
            <a:off x="777240" y="3840480"/>
            <a:ext cx="2926080" cy="457200"/>
          </a:xfrm>
          <a:prstGeom prst="rect">
            <a:avLst/>
          </a:prstGeom>
          <a:noFill/>
        </p:spPr>
        <p:txBody>
          <a:bodyPr wrap="none" lIns="0" rIns="0" tIns="0" bIns="0">
            <a:spAutoFit/>
          </a:bodyPr>
          <a:lstStyle/>
          <a:p>
            <a:pPr>
              <a:lnSpc>
                <a:spcPts val="2457"/>
              </a:lnSpc>
              <a:spcBef>
                <a:spcPts val="0"/>
              </a:spcBef>
              <a:spcAft>
                <a:spcPts val="0"/>
              </a:spcAft>
              <a:defRPr sz="2100" b="0">
                <a:solidFill>
                  <a:srgbClr val="183445"/>
                </a:solidFill>
                <a:latin typeface="DejaVu Sans"/>
              </a:defRPr>
            </a:pPr>
            <a:r>
              <a:t>NWM target grid</a:t>
            </a:r>
          </a:p>
        </p:txBody>
      </p:sp>
      <p:sp>
        <p:nvSpPr>
          <p:cNvPr id="11" name="Rounded Rectangle 10"/>
          <p:cNvSpPr/>
          <p:nvPr/>
        </p:nvSpPr>
        <p:spPr>
          <a:xfrm>
            <a:off x="4434840" y="2423160"/>
            <a:ext cx="33375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743200"/>
            <a:ext cx="2926080" cy="777240"/>
          </a:xfrm>
          <a:prstGeom prst="rect">
            <a:avLst/>
          </a:prstGeom>
          <a:noFill/>
        </p:spPr>
        <p:txBody>
          <a:bodyPr wrap="none" lIns="0" rIns="0" tIns="0" bIns="0">
            <a:spAutoFit/>
          </a:bodyPr>
          <a:lstStyle/>
          <a:p>
            <a:pPr>
              <a:lnSpc>
                <a:spcPts val="4094"/>
              </a:lnSpc>
              <a:spcBef>
                <a:spcPts val="0"/>
              </a:spcBef>
              <a:spcAft>
                <a:spcPts val="0"/>
              </a:spcAft>
              <a:defRPr sz="3500" b="1">
                <a:solidFill>
                  <a:srgbClr val="3975B7"/>
                </a:solidFill>
                <a:latin typeface="DejaVu Sans"/>
              </a:defRPr>
            </a:pPr>
            <a:r>
              <a:t>1 hour</a:t>
            </a:r>
          </a:p>
        </p:txBody>
      </p:sp>
      <p:sp>
        <p:nvSpPr>
          <p:cNvPr id="13" name="TextBox 12"/>
          <p:cNvSpPr txBox="1"/>
          <p:nvPr/>
        </p:nvSpPr>
        <p:spPr>
          <a:xfrm>
            <a:off x="4663440" y="3840480"/>
            <a:ext cx="2926080" cy="457200"/>
          </a:xfrm>
          <a:prstGeom prst="rect">
            <a:avLst/>
          </a:prstGeom>
          <a:noFill/>
        </p:spPr>
        <p:txBody>
          <a:bodyPr wrap="none" lIns="0" rIns="0" tIns="0" bIns="0">
            <a:spAutoFit/>
          </a:bodyPr>
          <a:lstStyle/>
          <a:p>
            <a:pPr>
              <a:lnSpc>
                <a:spcPts val="2457"/>
              </a:lnSpc>
              <a:spcBef>
                <a:spcPts val="0"/>
              </a:spcBef>
              <a:spcAft>
                <a:spcPts val="0"/>
              </a:spcAft>
              <a:defRPr sz="2100" b="0">
                <a:solidFill>
                  <a:srgbClr val="183445"/>
                </a:solidFill>
                <a:latin typeface="DejaVu Sans"/>
              </a:defRPr>
            </a:pPr>
            <a:r>
              <a:t>Time resolution</a:t>
            </a:r>
          </a:p>
        </p:txBody>
      </p:sp>
      <p:sp>
        <p:nvSpPr>
          <p:cNvPr id="14" name="Rounded Rectangle 13"/>
          <p:cNvSpPr/>
          <p:nvPr/>
        </p:nvSpPr>
        <p:spPr>
          <a:xfrm>
            <a:off x="8321040" y="2423160"/>
            <a:ext cx="33375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2743200"/>
            <a:ext cx="2926080" cy="777240"/>
          </a:xfrm>
          <a:prstGeom prst="rect">
            <a:avLst/>
          </a:prstGeom>
          <a:noFill/>
        </p:spPr>
        <p:txBody>
          <a:bodyPr wrap="none" lIns="0" rIns="0" tIns="0" bIns="0">
            <a:spAutoFit/>
          </a:bodyPr>
          <a:lstStyle/>
          <a:p>
            <a:pPr>
              <a:lnSpc>
                <a:spcPts val="4094"/>
              </a:lnSpc>
              <a:spcBef>
                <a:spcPts val="0"/>
              </a:spcBef>
              <a:spcAft>
                <a:spcPts val="0"/>
              </a:spcAft>
              <a:defRPr sz="3500" b="1">
                <a:solidFill>
                  <a:srgbClr val="087F8C"/>
                </a:solidFill>
                <a:latin typeface="DejaVu Sans"/>
              </a:defRPr>
            </a:pPr>
            <a:r>
              <a:t>2 streams</a:t>
            </a:r>
          </a:p>
        </p:txBody>
      </p:sp>
      <p:sp>
        <p:nvSpPr>
          <p:cNvPr id="16" name="TextBox 15"/>
          <p:cNvSpPr txBox="1"/>
          <p:nvPr/>
        </p:nvSpPr>
        <p:spPr>
          <a:xfrm>
            <a:off x="8549640" y="3840480"/>
            <a:ext cx="2926080" cy="457200"/>
          </a:xfrm>
          <a:prstGeom prst="rect">
            <a:avLst/>
          </a:prstGeom>
          <a:noFill/>
        </p:spPr>
        <p:txBody>
          <a:bodyPr wrap="none" lIns="0" rIns="0" tIns="0" bIns="0">
            <a:spAutoFit/>
          </a:bodyPr>
          <a:lstStyle/>
          <a:p>
            <a:pPr>
              <a:lnSpc>
                <a:spcPts val="2457"/>
              </a:lnSpc>
              <a:spcBef>
                <a:spcPts val="0"/>
              </a:spcBef>
              <a:spcAft>
                <a:spcPts val="0"/>
              </a:spcAft>
              <a:defRPr sz="2100" b="0">
                <a:solidFill>
                  <a:srgbClr val="183445"/>
                </a:solidFill>
                <a:latin typeface="DejaVu Sans"/>
              </a:defRPr>
            </a:pPr>
            <a:r>
              <a:t>NRT + Retro</a:t>
            </a:r>
          </a:p>
        </p:txBody>
      </p:sp>
      <p:sp>
        <p:nvSpPr>
          <p:cNvPr id="17" name="Rounded Rectangle 16"/>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Best available evidence • Physically consistent fields • Traceable revisions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Better informed—not simply higher resolution</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Four design goals shape every production choice.</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02</a:t>
            </a:r>
          </a:p>
        </p:txBody>
      </p:sp>
      <p:sp>
        <p:nvSpPr>
          <p:cNvPr id="8" name="Rounded Rectangle 7"/>
          <p:cNvSpPr/>
          <p:nvPr/>
        </p:nvSpPr>
        <p:spPr>
          <a:xfrm>
            <a:off x="457200" y="2103120"/>
            <a:ext cx="548640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03120"/>
            <a:ext cx="54864" cy="15087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8600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Use observations</a:t>
            </a:r>
          </a:p>
        </p:txBody>
      </p:sp>
      <p:sp>
        <p:nvSpPr>
          <p:cNvPr id="11" name="TextBox 10"/>
          <p:cNvSpPr txBox="1"/>
          <p:nvPr/>
        </p:nvSpPr>
        <p:spPr>
          <a:xfrm>
            <a:off x="640080" y="2743200"/>
            <a:ext cx="5120640" cy="75895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Prefer credible measurements; retain model</a:t>
            </a:r>
          </a:p>
          <a:p>
            <a:pPr>
              <a:lnSpc>
                <a:spcPts val="2106"/>
              </a:lnSpc>
              <a:spcBef>
                <a:spcPts val="0"/>
              </a:spcBef>
              <a:spcAft>
                <a:spcPts val="0"/>
              </a:spcAft>
              <a:defRPr sz="1800" b="0">
                <a:solidFill>
                  <a:srgbClr val="183445"/>
                </a:solidFill>
                <a:latin typeface="DejaVu Sans"/>
              </a:defRPr>
            </a:pPr>
            <a:r>
              <a:t>coverage.</a:t>
            </a:r>
          </a:p>
        </p:txBody>
      </p:sp>
      <p:sp>
        <p:nvSpPr>
          <p:cNvPr id="12" name="Rounded Rectangle 11"/>
          <p:cNvSpPr/>
          <p:nvPr/>
        </p:nvSpPr>
        <p:spPr>
          <a:xfrm>
            <a:off x="6217920" y="2103120"/>
            <a:ext cx="548640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103120"/>
            <a:ext cx="54864" cy="15087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28600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Respect terrain</a:t>
            </a:r>
          </a:p>
        </p:txBody>
      </p:sp>
      <p:sp>
        <p:nvSpPr>
          <p:cNvPr id="15" name="TextBox 14"/>
          <p:cNvSpPr txBox="1"/>
          <p:nvPr/>
        </p:nvSpPr>
        <p:spPr>
          <a:xfrm>
            <a:off x="6400800" y="2743200"/>
            <a:ext cx="5120640" cy="75895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Adjust meteorology to NWM elevation.</a:t>
            </a:r>
          </a:p>
        </p:txBody>
      </p:sp>
      <p:sp>
        <p:nvSpPr>
          <p:cNvPr id="16" name="Rounded Rectangle 15"/>
          <p:cNvSpPr/>
          <p:nvPr/>
        </p:nvSpPr>
        <p:spPr>
          <a:xfrm>
            <a:off x="457200" y="3794760"/>
            <a:ext cx="548640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94760"/>
            <a:ext cx="54864" cy="15087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7764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Keep consistency</a:t>
            </a:r>
          </a:p>
        </p:txBody>
      </p:sp>
      <p:sp>
        <p:nvSpPr>
          <p:cNvPr id="19" name="TextBox 18"/>
          <p:cNvSpPr txBox="1"/>
          <p:nvPr/>
        </p:nvSpPr>
        <p:spPr>
          <a:xfrm>
            <a:off x="640080" y="4434840"/>
            <a:ext cx="5120640" cy="75895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Temperature, pressure, humidity and</a:t>
            </a:r>
          </a:p>
          <a:p>
            <a:pPr>
              <a:lnSpc>
                <a:spcPts val="2106"/>
              </a:lnSpc>
              <a:spcBef>
                <a:spcPts val="0"/>
              </a:spcBef>
              <a:spcAft>
                <a:spcPts val="0"/>
              </a:spcAft>
              <a:defRPr sz="1800" b="0">
                <a:solidFill>
                  <a:srgbClr val="183445"/>
                </a:solidFill>
                <a:latin typeface="DejaVu Sans"/>
              </a:defRPr>
            </a:pPr>
            <a:r>
              <a:t>longwave stay coupled.</a:t>
            </a:r>
          </a:p>
        </p:txBody>
      </p:sp>
      <p:sp>
        <p:nvSpPr>
          <p:cNvPr id="20" name="Rounded Rectangle 19"/>
          <p:cNvSpPr/>
          <p:nvPr/>
        </p:nvSpPr>
        <p:spPr>
          <a:xfrm>
            <a:off x="6217920" y="3794760"/>
            <a:ext cx="548640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794760"/>
            <a:ext cx="54864" cy="15087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97764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Explain changes</a:t>
            </a:r>
          </a:p>
        </p:txBody>
      </p:sp>
      <p:sp>
        <p:nvSpPr>
          <p:cNvPr id="23" name="TextBox 22"/>
          <p:cNvSpPr txBox="1"/>
          <p:nvPr/>
        </p:nvSpPr>
        <p:spPr>
          <a:xfrm>
            <a:off x="6400800" y="4434840"/>
            <a:ext cx="5120640" cy="75895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Record sources, quality checks and</a:t>
            </a:r>
          </a:p>
          <a:p>
            <a:pPr>
              <a:lnSpc>
                <a:spcPts val="2106"/>
              </a:lnSpc>
              <a:spcBef>
                <a:spcPts val="0"/>
              </a:spcBef>
              <a:spcAft>
                <a:spcPts val="0"/>
              </a:spcAft>
              <a:defRPr sz="1800" b="0">
                <a:solidFill>
                  <a:srgbClr val="183445"/>
                </a:solidFill>
                <a:latin typeface="DejaVu Sans"/>
              </a:defRPr>
            </a:pPr>
            <a:r>
              <a:t>revisions.</a:t>
            </a:r>
          </a:p>
        </p:txBody>
      </p:sp>
      <p:sp>
        <p:nvSpPr>
          <p:cNvPr id="24" name="Rounded Rectangle 23"/>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A finer grid is not proof of greater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Eight fields, one model-ready product</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Hourly meteorology on the NWM grid; daily files for efficient access.</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03</a:t>
            </a:r>
          </a:p>
        </p:txBody>
      </p:sp>
      <p:sp>
        <p:nvSpPr>
          <p:cNvPr id="8" name="Rounded Rectangle 7"/>
          <p:cNvSpPr/>
          <p:nvPr/>
        </p:nvSpPr>
        <p:spPr>
          <a:xfrm>
            <a:off x="457200" y="2057400"/>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221992"/>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RAINRATE</a:t>
            </a:r>
          </a:p>
        </p:txBody>
      </p:sp>
      <p:sp>
        <p:nvSpPr>
          <p:cNvPr id="10" name="TextBox 9"/>
          <p:cNvSpPr txBox="1"/>
          <p:nvPr/>
        </p:nvSpPr>
        <p:spPr>
          <a:xfrm>
            <a:off x="612648" y="269748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Precipitation</a:t>
            </a:r>
          </a:p>
        </p:txBody>
      </p:sp>
      <p:sp>
        <p:nvSpPr>
          <p:cNvPr id="11" name="TextBox 10"/>
          <p:cNvSpPr txBox="1"/>
          <p:nvPr/>
        </p:nvSpPr>
        <p:spPr>
          <a:xfrm>
            <a:off x="612648" y="322783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kg m⁻² s⁻¹</a:t>
            </a:r>
          </a:p>
        </p:txBody>
      </p:sp>
      <p:sp>
        <p:nvSpPr>
          <p:cNvPr id="12" name="Rounded Rectangle 11"/>
          <p:cNvSpPr/>
          <p:nvPr/>
        </p:nvSpPr>
        <p:spPr>
          <a:xfrm>
            <a:off x="3310128" y="2057400"/>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5576" y="2221992"/>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T2D</a:t>
            </a:r>
          </a:p>
        </p:txBody>
      </p:sp>
      <p:sp>
        <p:nvSpPr>
          <p:cNvPr id="14" name="TextBox 13"/>
          <p:cNvSpPr txBox="1"/>
          <p:nvPr/>
        </p:nvSpPr>
        <p:spPr>
          <a:xfrm>
            <a:off x="3465576" y="269748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2-m temperature</a:t>
            </a:r>
          </a:p>
        </p:txBody>
      </p:sp>
      <p:sp>
        <p:nvSpPr>
          <p:cNvPr id="15" name="TextBox 14"/>
          <p:cNvSpPr txBox="1"/>
          <p:nvPr/>
        </p:nvSpPr>
        <p:spPr>
          <a:xfrm>
            <a:off x="3465576" y="322783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K</a:t>
            </a:r>
          </a:p>
        </p:txBody>
      </p:sp>
      <p:sp>
        <p:nvSpPr>
          <p:cNvPr id="16" name="Rounded Rectangle 15"/>
          <p:cNvSpPr/>
          <p:nvPr/>
        </p:nvSpPr>
        <p:spPr>
          <a:xfrm>
            <a:off x="6163056" y="2057400"/>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2221992"/>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Q2D</a:t>
            </a:r>
          </a:p>
        </p:txBody>
      </p:sp>
      <p:sp>
        <p:nvSpPr>
          <p:cNvPr id="18" name="TextBox 17"/>
          <p:cNvSpPr txBox="1"/>
          <p:nvPr/>
        </p:nvSpPr>
        <p:spPr>
          <a:xfrm>
            <a:off x="6318504" y="269748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2-m specific</a:t>
            </a:r>
          </a:p>
          <a:p>
            <a:pPr>
              <a:lnSpc>
                <a:spcPts val="2106"/>
              </a:lnSpc>
              <a:spcBef>
                <a:spcPts val="0"/>
              </a:spcBef>
              <a:spcAft>
                <a:spcPts val="0"/>
              </a:spcAft>
              <a:defRPr sz="1800" b="0">
                <a:solidFill>
                  <a:srgbClr val="183445"/>
                </a:solidFill>
                <a:latin typeface="DejaVu Sans"/>
              </a:defRPr>
            </a:pPr>
            <a:r>
              <a:t>humidity</a:t>
            </a:r>
          </a:p>
        </p:txBody>
      </p:sp>
      <p:sp>
        <p:nvSpPr>
          <p:cNvPr id="19" name="TextBox 18"/>
          <p:cNvSpPr txBox="1"/>
          <p:nvPr/>
        </p:nvSpPr>
        <p:spPr>
          <a:xfrm>
            <a:off x="6318504" y="322783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kg kg⁻¹</a:t>
            </a:r>
          </a:p>
        </p:txBody>
      </p:sp>
      <p:sp>
        <p:nvSpPr>
          <p:cNvPr id="20" name="Rounded Rectangle 19"/>
          <p:cNvSpPr/>
          <p:nvPr/>
        </p:nvSpPr>
        <p:spPr>
          <a:xfrm>
            <a:off x="9015984" y="2057400"/>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1432" y="2221992"/>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PSFC</a:t>
            </a:r>
          </a:p>
        </p:txBody>
      </p:sp>
      <p:sp>
        <p:nvSpPr>
          <p:cNvPr id="22" name="TextBox 21"/>
          <p:cNvSpPr txBox="1"/>
          <p:nvPr/>
        </p:nvSpPr>
        <p:spPr>
          <a:xfrm>
            <a:off x="9171432" y="269748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Surface pressure</a:t>
            </a:r>
          </a:p>
        </p:txBody>
      </p:sp>
      <p:sp>
        <p:nvSpPr>
          <p:cNvPr id="23" name="TextBox 22"/>
          <p:cNvSpPr txBox="1"/>
          <p:nvPr/>
        </p:nvSpPr>
        <p:spPr>
          <a:xfrm>
            <a:off x="9171432" y="322783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Pa</a:t>
            </a:r>
          </a:p>
        </p:txBody>
      </p:sp>
      <p:sp>
        <p:nvSpPr>
          <p:cNvPr id="24" name="Rounded Rectangle 23"/>
          <p:cNvSpPr/>
          <p:nvPr/>
        </p:nvSpPr>
        <p:spPr>
          <a:xfrm>
            <a:off x="457200" y="3749039"/>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3913631"/>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SWDOWN</a:t>
            </a:r>
          </a:p>
        </p:txBody>
      </p:sp>
      <p:sp>
        <p:nvSpPr>
          <p:cNvPr id="26" name="TextBox 25"/>
          <p:cNvSpPr txBox="1"/>
          <p:nvPr/>
        </p:nvSpPr>
        <p:spPr>
          <a:xfrm>
            <a:off x="612648" y="438912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Downward</a:t>
            </a:r>
          </a:p>
          <a:p>
            <a:pPr>
              <a:lnSpc>
                <a:spcPts val="2106"/>
              </a:lnSpc>
              <a:spcBef>
                <a:spcPts val="0"/>
              </a:spcBef>
              <a:spcAft>
                <a:spcPts val="0"/>
              </a:spcAft>
              <a:defRPr sz="1800" b="0">
                <a:solidFill>
                  <a:srgbClr val="183445"/>
                </a:solidFill>
                <a:latin typeface="DejaVu Sans"/>
              </a:defRPr>
            </a:pPr>
            <a:r>
              <a:t>shortwave</a:t>
            </a:r>
          </a:p>
        </p:txBody>
      </p:sp>
      <p:sp>
        <p:nvSpPr>
          <p:cNvPr id="27" name="TextBox 26"/>
          <p:cNvSpPr txBox="1"/>
          <p:nvPr/>
        </p:nvSpPr>
        <p:spPr>
          <a:xfrm>
            <a:off x="612648" y="491947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W m⁻²</a:t>
            </a:r>
          </a:p>
        </p:txBody>
      </p:sp>
      <p:sp>
        <p:nvSpPr>
          <p:cNvPr id="28" name="Rounded Rectangle 27"/>
          <p:cNvSpPr/>
          <p:nvPr/>
        </p:nvSpPr>
        <p:spPr>
          <a:xfrm>
            <a:off x="3310128" y="3749039"/>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65576" y="3913631"/>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LWDOWN</a:t>
            </a:r>
          </a:p>
        </p:txBody>
      </p:sp>
      <p:sp>
        <p:nvSpPr>
          <p:cNvPr id="30" name="TextBox 29"/>
          <p:cNvSpPr txBox="1"/>
          <p:nvPr/>
        </p:nvSpPr>
        <p:spPr>
          <a:xfrm>
            <a:off x="3465576" y="438912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Downward</a:t>
            </a:r>
          </a:p>
          <a:p>
            <a:pPr>
              <a:lnSpc>
                <a:spcPts val="2106"/>
              </a:lnSpc>
              <a:spcBef>
                <a:spcPts val="0"/>
              </a:spcBef>
              <a:spcAft>
                <a:spcPts val="0"/>
              </a:spcAft>
              <a:defRPr sz="1800" b="0">
                <a:solidFill>
                  <a:srgbClr val="183445"/>
                </a:solidFill>
                <a:latin typeface="DejaVu Sans"/>
              </a:defRPr>
            </a:pPr>
            <a:r>
              <a:t>longwave</a:t>
            </a:r>
          </a:p>
        </p:txBody>
      </p:sp>
      <p:sp>
        <p:nvSpPr>
          <p:cNvPr id="31" name="TextBox 30"/>
          <p:cNvSpPr txBox="1"/>
          <p:nvPr/>
        </p:nvSpPr>
        <p:spPr>
          <a:xfrm>
            <a:off x="3465576" y="491947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W m⁻²</a:t>
            </a:r>
          </a:p>
        </p:txBody>
      </p:sp>
      <p:sp>
        <p:nvSpPr>
          <p:cNvPr id="32" name="Rounded Rectangle 31"/>
          <p:cNvSpPr/>
          <p:nvPr/>
        </p:nvSpPr>
        <p:spPr>
          <a:xfrm>
            <a:off x="6163056" y="3749039"/>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18504" y="3913631"/>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U2D</a:t>
            </a:r>
          </a:p>
        </p:txBody>
      </p:sp>
      <p:sp>
        <p:nvSpPr>
          <p:cNvPr id="34" name="TextBox 33"/>
          <p:cNvSpPr txBox="1"/>
          <p:nvPr/>
        </p:nvSpPr>
        <p:spPr>
          <a:xfrm>
            <a:off x="6318504" y="438912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10-m eastward wind</a:t>
            </a:r>
          </a:p>
        </p:txBody>
      </p:sp>
      <p:sp>
        <p:nvSpPr>
          <p:cNvPr id="35" name="TextBox 34"/>
          <p:cNvSpPr txBox="1"/>
          <p:nvPr/>
        </p:nvSpPr>
        <p:spPr>
          <a:xfrm>
            <a:off x="6318504" y="491947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m s⁻¹</a:t>
            </a:r>
          </a:p>
        </p:txBody>
      </p:sp>
      <p:sp>
        <p:nvSpPr>
          <p:cNvPr id="36" name="Rounded Rectangle 35"/>
          <p:cNvSpPr/>
          <p:nvPr/>
        </p:nvSpPr>
        <p:spPr>
          <a:xfrm>
            <a:off x="9015984" y="3749039"/>
            <a:ext cx="26974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1432" y="3913631"/>
            <a:ext cx="2377440" cy="36576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V2D</a:t>
            </a:r>
          </a:p>
        </p:txBody>
      </p:sp>
      <p:sp>
        <p:nvSpPr>
          <p:cNvPr id="38" name="TextBox 37"/>
          <p:cNvSpPr txBox="1"/>
          <p:nvPr/>
        </p:nvSpPr>
        <p:spPr>
          <a:xfrm>
            <a:off x="9171432" y="4389120"/>
            <a:ext cx="237744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10-m northward</a:t>
            </a:r>
          </a:p>
          <a:p>
            <a:pPr>
              <a:lnSpc>
                <a:spcPts val="2106"/>
              </a:lnSpc>
              <a:spcBef>
                <a:spcPts val="0"/>
              </a:spcBef>
              <a:spcAft>
                <a:spcPts val="0"/>
              </a:spcAft>
              <a:defRPr sz="1800" b="0">
                <a:solidFill>
                  <a:srgbClr val="183445"/>
                </a:solidFill>
                <a:latin typeface="DejaVu Sans"/>
              </a:defRPr>
            </a:pPr>
            <a:r>
              <a:t>wind</a:t>
            </a:r>
          </a:p>
        </p:txBody>
      </p:sp>
      <p:sp>
        <p:nvSpPr>
          <p:cNvPr id="39" name="TextBox 38"/>
          <p:cNvSpPr txBox="1"/>
          <p:nvPr/>
        </p:nvSpPr>
        <p:spPr>
          <a:xfrm>
            <a:off x="9171432" y="4919472"/>
            <a:ext cx="2377440" cy="22860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m s⁻¹</a:t>
            </a:r>
          </a:p>
        </p:txBody>
      </p:sp>
      <p:sp>
        <p:nvSpPr>
          <p:cNvPr id="40" name="Rounded Rectangle 39"/>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Daily file = 24 hourly records. It does not mean daily-resolution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One production chain, two published streams</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Native source grids map directly to NWM—no common 4-km intermediate grid.</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04</a:t>
            </a:r>
          </a:p>
        </p:txBody>
      </p:sp>
      <p:sp>
        <p:nvSpPr>
          <p:cNvPr id="8" name="Rounded Rectangle 7"/>
          <p:cNvSpPr/>
          <p:nvPr/>
        </p:nvSpPr>
        <p:spPr>
          <a:xfrm>
            <a:off x="457200" y="2560320"/>
            <a:ext cx="26060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60320"/>
            <a:ext cx="54864" cy="201168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4320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Acquire</a:t>
            </a:r>
          </a:p>
        </p:txBody>
      </p:sp>
      <p:sp>
        <p:nvSpPr>
          <p:cNvPr id="11" name="TextBox 10"/>
          <p:cNvSpPr txBox="1"/>
          <p:nvPr/>
        </p:nvSpPr>
        <p:spPr>
          <a:xfrm>
            <a:off x="640080" y="3474720"/>
            <a:ext cx="2240280" cy="9875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Sources +</a:t>
            </a:r>
          </a:p>
          <a:p>
            <a:pPr>
              <a:lnSpc>
                <a:spcPts val="2340"/>
              </a:lnSpc>
              <a:spcBef>
                <a:spcPts val="0"/>
              </a:spcBef>
              <a:spcAft>
                <a:spcPts val="0"/>
              </a:spcAft>
              <a:defRPr sz="2000" b="0">
                <a:solidFill>
                  <a:srgbClr val="183445"/>
                </a:solidFill>
                <a:latin typeface="DejaVu Sans"/>
              </a:defRPr>
            </a:pPr>
            <a:r>
              <a:t>revisions</a:t>
            </a:r>
          </a:p>
        </p:txBody>
      </p:sp>
      <p:sp>
        <p:nvSpPr>
          <p:cNvPr id="12" name="Right Arrow 11"/>
          <p:cNvSpPr/>
          <p:nvPr/>
        </p:nvSpPr>
        <p:spPr>
          <a:xfrm>
            <a:off x="3090672" y="333756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2560320"/>
            <a:ext cx="26060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2560320"/>
            <a:ext cx="54864" cy="2011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74320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Build baseline</a:t>
            </a:r>
          </a:p>
        </p:txBody>
      </p:sp>
      <p:sp>
        <p:nvSpPr>
          <p:cNvPr id="16" name="TextBox 15"/>
          <p:cNvSpPr txBox="1"/>
          <p:nvPr/>
        </p:nvSpPr>
        <p:spPr>
          <a:xfrm>
            <a:off x="3520440" y="3474720"/>
            <a:ext cx="2240280" cy="9875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Select • remap •</a:t>
            </a:r>
          </a:p>
          <a:p>
            <a:pPr>
              <a:lnSpc>
                <a:spcPts val="2340"/>
              </a:lnSpc>
              <a:spcBef>
                <a:spcPts val="0"/>
              </a:spcBef>
              <a:spcAft>
                <a:spcPts val="0"/>
              </a:spcAft>
              <a:defRPr sz="2000" b="0">
                <a:solidFill>
                  <a:srgbClr val="183445"/>
                </a:solidFill>
                <a:latin typeface="DejaVu Sans"/>
              </a:defRPr>
            </a:pPr>
            <a:r>
              <a:t>adjust</a:t>
            </a:r>
          </a:p>
        </p:txBody>
      </p:sp>
      <p:sp>
        <p:nvSpPr>
          <p:cNvPr id="17" name="Right Arrow 16"/>
          <p:cNvSpPr/>
          <p:nvPr/>
        </p:nvSpPr>
        <p:spPr>
          <a:xfrm>
            <a:off x="5971031" y="333756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2560320"/>
            <a:ext cx="26060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560320"/>
            <a:ext cx="54864" cy="2011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74320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Constrain</a:t>
            </a:r>
          </a:p>
        </p:txBody>
      </p:sp>
      <p:sp>
        <p:nvSpPr>
          <p:cNvPr id="21" name="TextBox 20"/>
          <p:cNvSpPr txBox="1"/>
          <p:nvPr/>
        </p:nvSpPr>
        <p:spPr>
          <a:xfrm>
            <a:off x="6400800" y="3474720"/>
            <a:ext cx="2240280" cy="9875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PRISM +</a:t>
            </a:r>
          </a:p>
          <a:p>
            <a:pPr>
              <a:lnSpc>
                <a:spcPts val="2340"/>
              </a:lnSpc>
              <a:spcBef>
                <a:spcPts val="0"/>
              </a:spcBef>
              <a:spcAft>
                <a:spcPts val="0"/>
              </a:spcAft>
              <a:defRPr sz="2000" b="0">
                <a:solidFill>
                  <a:srgbClr val="183445"/>
                </a:solidFill>
                <a:latin typeface="DejaVu Sans"/>
              </a:defRPr>
            </a:pPr>
            <a:r>
              <a:t>consistency</a:t>
            </a:r>
          </a:p>
        </p:txBody>
      </p:sp>
      <p:sp>
        <p:nvSpPr>
          <p:cNvPr id="22" name="Right Arrow 21"/>
          <p:cNvSpPr/>
          <p:nvPr/>
        </p:nvSpPr>
        <p:spPr>
          <a:xfrm>
            <a:off x="8851392" y="333756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2560320"/>
            <a:ext cx="26060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98280" y="2560320"/>
            <a:ext cx="54864" cy="201168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59" y="274320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132E40"/>
                </a:solidFill>
                <a:latin typeface="DejaVu Sans"/>
              </a:defRPr>
            </a:pPr>
            <a:r>
              <a:t>Publish</a:t>
            </a:r>
          </a:p>
        </p:txBody>
      </p:sp>
      <p:sp>
        <p:nvSpPr>
          <p:cNvPr id="26" name="TextBox 25"/>
          <p:cNvSpPr txBox="1"/>
          <p:nvPr/>
        </p:nvSpPr>
        <p:spPr>
          <a:xfrm>
            <a:off x="9281159" y="3474720"/>
            <a:ext cx="2240280" cy="9875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Audit •</a:t>
            </a:r>
          </a:p>
          <a:p>
            <a:pPr>
              <a:lnSpc>
                <a:spcPts val="2340"/>
              </a:lnSpc>
              <a:spcBef>
                <a:spcPts val="0"/>
              </a:spcBef>
              <a:spcAft>
                <a:spcPts val="0"/>
              </a:spcAft>
              <a:defRPr sz="2000" b="0">
                <a:solidFill>
                  <a:srgbClr val="183445"/>
                </a:solidFill>
                <a:latin typeface="DejaVu Sans"/>
              </a:defRPr>
            </a:pPr>
            <a:r>
              <a:t>provenance</a:t>
            </a:r>
          </a:p>
        </p:txBody>
      </p:sp>
      <p:sp>
        <p:nvSpPr>
          <p:cNvPr id="27" name="TextBox 26"/>
          <p:cNvSpPr txBox="1"/>
          <p:nvPr/>
        </p:nvSpPr>
        <p:spPr>
          <a:xfrm>
            <a:off x="640080" y="4919472"/>
            <a:ext cx="5394960" cy="548640"/>
          </a:xfrm>
          <a:prstGeom prst="rect">
            <a:avLst/>
          </a:prstGeom>
          <a:noFill/>
        </p:spPr>
        <p:txBody>
          <a:bodyPr wrap="none" lIns="0" rIns="0" tIns="0" bIns="0">
            <a:spAutoFit/>
          </a:bodyPr>
          <a:lstStyle/>
          <a:p>
            <a:pPr>
              <a:lnSpc>
                <a:spcPts val="2340"/>
              </a:lnSpc>
              <a:spcBef>
                <a:spcPts val="0"/>
              </a:spcBef>
              <a:spcAft>
                <a:spcPts val="0"/>
              </a:spcAft>
              <a:defRPr sz="2000" b="0">
                <a:solidFill>
                  <a:srgbClr val="526674"/>
                </a:solidFill>
                <a:latin typeface="DejaVu Sans"/>
              </a:defRPr>
            </a:pPr>
            <a:r>
              <a:t>Terrain • masks • cached weights</a:t>
            </a:r>
          </a:p>
        </p:txBody>
      </p:sp>
      <p:sp>
        <p:nvSpPr>
          <p:cNvPr id="28" name="Rounded Rectangle 27"/>
          <p:cNvSpPr/>
          <p:nvPr/>
        </p:nvSpPr>
        <p:spPr>
          <a:xfrm>
            <a:off x="7315200" y="4937760"/>
            <a:ext cx="1920240" cy="548640"/>
          </a:xfrm>
          <a:prstGeom prst="round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5047488"/>
            <a:ext cx="1554480" cy="365760"/>
          </a:xfrm>
          <a:prstGeom prst="rect">
            <a:avLst/>
          </a:prstGeom>
          <a:noFill/>
        </p:spPr>
        <p:txBody>
          <a:bodyPr wrap="none" lIns="0" rIns="0" tIns="0" bIns="0">
            <a:spAutoFit/>
          </a:bodyPr>
          <a:lstStyle/>
          <a:p>
            <a:pPr>
              <a:lnSpc>
                <a:spcPts val="2574"/>
              </a:lnSpc>
              <a:spcBef>
                <a:spcPts val="0"/>
              </a:spcBef>
              <a:spcAft>
                <a:spcPts val="0"/>
              </a:spcAft>
              <a:defRPr sz="2200" b="1">
                <a:solidFill>
                  <a:srgbClr val="FFFFFF"/>
                </a:solidFill>
                <a:latin typeface="DejaVu Sans"/>
              </a:defRPr>
            </a:pPr>
            <a:r>
              <a:t>NRT</a:t>
            </a:r>
          </a:p>
        </p:txBody>
      </p:sp>
      <p:sp>
        <p:nvSpPr>
          <p:cNvPr id="30" name="Rounded Rectangle 29"/>
          <p:cNvSpPr/>
          <p:nvPr/>
        </p:nvSpPr>
        <p:spPr>
          <a:xfrm>
            <a:off x="9509760" y="4937760"/>
            <a:ext cx="1920240" cy="5486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0" y="5047488"/>
            <a:ext cx="1554480" cy="365760"/>
          </a:xfrm>
          <a:prstGeom prst="rect">
            <a:avLst/>
          </a:prstGeom>
          <a:noFill/>
        </p:spPr>
        <p:txBody>
          <a:bodyPr wrap="none" lIns="0" rIns="0" tIns="0" bIns="0">
            <a:spAutoFit/>
          </a:bodyPr>
          <a:lstStyle/>
          <a:p>
            <a:pPr>
              <a:lnSpc>
                <a:spcPts val="2574"/>
              </a:lnSpc>
              <a:spcBef>
                <a:spcPts val="0"/>
              </a:spcBef>
              <a:spcAft>
                <a:spcPts val="0"/>
              </a:spcAft>
              <a:defRPr sz="2200" b="1">
                <a:solidFill>
                  <a:srgbClr val="FFFFFF"/>
                </a:solidFill>
                <a:latin typeface="DejaVu Sans"/>
              </a:defRPr>
            </a:pPr>
            <a:r>
              <a:t>Retro</a:t>
            </a:r>
          </a:p>
        </p:txBody>
      </p:sp>
      <p:sp>
        <p:nvSpPr>
          <p:cNvPr id="32" name="Rounded Rectangle 31"/>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Baseline is shared working data; NRT and Retro remain separate products.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Observation-informed inputs</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Nominal source grids and update timing—not delivery guarantees.</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05</a:t>
            </a:r>
          </a:p>
        </p:txBody>
      </p:sp>
      <p:sp>
        <p:nvSpPr>
          <p:cNvPr id="8" name="Rectangle 7"/>
          <p:cNvSpPr/>
          <p:nvPr/>
        </p:nvSpPr>
        <p:spPr>
          <a:xfrm>
            <a:off x="457200" y="1965960"/>
            <a:ext cx="146304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75688"/>
            <a:ext cx="124358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Source</a:t>
            </a:r>
          </a:p>
        </p:txBody>
      </p:sp>
      <p:sp>
        <p:nvSpPr>
          <p:cNvPr id="10" name="Rectangle 9"/>
          <p:cNvSpPr/>
          <p:nvPr/>
        </p:nvSpPr>
        <p:spPr>
          <a:xfrm>
            <a:off x="1920240" y="1965960"/>
            <a:ext cx="274320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29968" y="2075688"/>
            <a:ext cx="252374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Native grid / time</a:t>
            </a:r>
          </a:p>
        </p:txBody>
      </p:sp>
      <p:sp>
        <p:nvSpPr>
          <p:cNvPr id="12" name="Rectangle 11"/>
          <p:cNvSpPr/>
          <p:nvPr/>
        </p:nvSpPr>
        <p:spPr>
          <a:xfrm>
            <a:off x="4663440" y="1965960"/>
            <a:ext cx="338328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075688"/>
            <a:ext cx="316382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Availability / revisions</a:t>
            </a:r>
          </a:p>
        </p:txBody>
      </p:sp>
      <p:sp>
        <p:nvSpPr>
          <p:cNvPr id="14" name="Rectangle 13"/>
          <p:cNvSpPr/>
          <p:nvPr/>
        </p:nvSpPr>
        <p:spPr>
          <a:xfrm>
            <a:off x="8046720" y="1965960"/>
            <a:ext cx="365760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2075688"/>
            <a:ext cx="343814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Main contribution</a:t>
            </a:r>
          </a:p>
        </p:txBody>
      </p:sp>
      <p:sp>
        <p:nvSpPr>
          <p:cNvPr id="16" name="Rectangle 15"/>
          <p:cNvSpPr/>
          <p:nvPr/>
        </p:nvSpPr>
        <p:spPr>
          <a:xfrm>
            <a:off x="457200" y="2468880"/>
            <a:ext cx="14630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642615"/>
            <a:ext cx="1243584" cy="82296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MRMS</a:t>
            </a:r>
          </a:p>
        </p:txBody>
      </p:sp>
      <p:sp>
        <p:nvSpPr>
          <p:cNvPr id="18" name="Rectangle 17"/>
          <p:cNvSpPr/>
          <p:nvPr/>
        </p:nvSpPr>
        <p:spPr>
          <a:xfrm>
            <a:off x="1920240" y="2468880"/>
            <a:ext cx="27432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29968" y="2642615"/>
            <a:ext cx="25237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~1 km / hourly QPE</a:t>
            </a:r>
          </a:p>
        </p:txBody>
      </p:sp>
      <p:sp>
        <p:nvSpPr>
          <p:cNvPr id="20" name="Rectangle 19"/>
          <p:cNvSpPr/>
          <p:nvPr/>
        </p:nvSpPr>
        <p:spPr>
          <a:xfrm>
            <a:off x="4663440" y="2468880"/>
            <a:ext cx="338328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2642615"/>
            <a:ext cx="316382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Pass 1 ~20 min</a:t>
            </a:r>
          </a:p>
          <a:p>
            <a:pPr>
              <a:lnSpc>
                <a:spcPts val="2222"/>
              </a:lnSpc>
              <a:spcBef>
                <a:spcPts val="0"/>
              </a:spcBef>
              <a:spcAft>
                <a:spcPts val="0"/>
              </a:spcAft>
              <a:defRPr sz="1900" b="0">
                <a:solidFill>
                  <a:srgbClr val="183445"/>
                </a:solidFill>
                <a:latin typeface="DejaVu Sans"/>
              </a:defRPr>
            </a:pPr>
            <a:r>
              <a:t>Pass 2 ~60 min*</a:t>
            </a:r>
          </a:p>
        </p:txBody>
      </p:sp>
      <p:sp>
        <p:nvSpPr>
          <p:cNvPr id="22" name="Rectangle 21"/>
          <p:cNvSpPr/>
          <p:nvPr/>
        </p:nvSpPr>
        <p:spPr>
          <a:xfrm>
            <a:off x="8046720" y="2468880"/>
            <a:ext cx="36576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2642615"/>
            <a:ext cx="34381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Storm timing +</a:t>
            </a:r>
          </a:p>
          <a:p>
            <a:pPr>
              <a:lnSpc>
                <a:spcPts val="2222"/>
              </a:lnSpc>
              <a:spcBef>
                <a:spcPts val="0"/>
              </a:spcBef>
              <a:spcAft>
                <a:spcPts val="0"/>
              </a:spcAft>
              <a:defRPr sz="1900" b="0">
                <a:solidFill>
                  <a:srgbClr val="183445"/>
                </a:solidFill>
                <a:latin typeface="DejaVu Sans"/>
              </a:defRPr>
            </a:pPr>
            <a:r>
              <a:t>radar/gauge detail</a:t>
            </a:r>
          </a:p>
        </p:txBody>
      </p:sp>
      <p:sp>
        <p:nvSpPr>
          <p:cNvPr id="24" name="Rectangle 23"/>
          <p:cNvSpPr/>
          <p:nvPr/>
        </p:nvSpPr>
        <p:spPr>
          <a:xfrm>
            <a:off x="457200" y="3474720"/>
            <a:ext cx="146304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48456"/>
            <a:ext cx="1243584" cy="82296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Stage-IV</a:t>
            </a:r>
          </a:p>
        </p:txBody>
      </p:sp>
      <p:sp>
        <p:nvSpPr>
          <p:cNvPr id="26" name="Rectangle 25"/>
          <p:cNvSpPr/>
          <p:nvPr/>
        </p:nvSpPr>
        <p:spPr>
          <a:xfrm>
            <a:off x="1920240" y="3474720"/>
            <a:ext cx="274320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8" y="3648456"/>
            <a:ext cx="25237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~4 km / 1 h + 6 h</a:t>
            </a:r>
          </a:p>
        </p:txBody>
      </p:sp>
      <p:sp>
        <p:nvSpPr>
          <p:cNvPr id="28" name="Rectangle 27"/>
          <p:cNvSpPr/>
          <p:nvPr/>
        </p:nvSpPr>
        <p:spPr>
          <a:xfrm>
            <a:off x="4663440" y="3474720"/>
            <a:ext cx="338328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3648456"/>
            <a:ext cx="316382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Hours; RFC-dependent</a:t>
            </a:r>
          </a:p>
          <a:p>
            <a:pPr>
              <a:lnSpc>
                <a:spcPts val="2222"/>
              </a:lnSpc>
              <a:spcBef>
                <a:spcPts val="0"/>
              </a:spcBef>
              <a:spcAft>
                <a:spcPts val="0"/>
              </a:spcAft>
              <a:defRPr sz="1900" b="0">
                <a:solidFill>
                  <a:srgbClr val="183445"/>
                </a:solidFill>
                <a:latin typeface="DejaVu Sans"/>
              </a:defRPr>
            </a:pPr>
            <a:r>
              <a:t>Later revisions</a:t>
            </a:r>
          </a:p>
        </p:txBody>
      </p:sp>
      <p:sp>
        <p:nvSpPr>
          <p:cNvPr id="30" name="Rectangle 29"/>
          <p:cNvSpPr/>
          <p:nvPr/>
        </p:nvSpPr>
        <p:spPr>
          <a:xfrm>
            <a:off x="8046720" y="3474720"/>
            <a:ext cx="365760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6448" y="3648456"/>
            <a:ext cx="34381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Regional radar/gauge QC</a:t>
            </a:r>
          </a:p>
        </p:txBody>
      </p:sp>
      <p:sp>
        <p:nvSpPr>
          <p:cNvPr id="32" name="Rectangle 31"/>
          <p:cNvSpPr/>
          <p:nvPr/>
        </p:nvSpPr>
        <p:spPr>
          <a:xfrm>
            <a:off x="457200" y="4480560"/>
            <a:ext cx="14630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54296"/>
            <a:ext cx="1243584" cy="82296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PRISM</a:t>
            </a:r>
          </a:p>
        </p:txBody>
      </p:sp>
      <p:sp>
        <p:nvSpPr>
          <p:cNvPr id="34" name="Rectangle 33"/>
          <p:cNvSpPr/>
          <p:nvPr/>
        </p:nvSpPr>
        <p:spPr>
          <a:xfrm>
            <a:off x="1920240" y="4480560"/>
            <a:ext cx="27432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29968" y="4654296"/>
            <a:ext cx="25237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4 km / daily</a:t>
            </a:r>
          </a:p>
        </p:txBody>
      </p:sp>
      <p:sp>
        <p:nvSpPr>
          <p:cNvPr id="36" name="Rectangle 35"/>
          <p:cNvSpPr/>
          <p:nvPr/>
        </p:nvSpPr>
        <p:spPr>
          <a:xfrm>
            <a:off x="4663440" y="4480560"/>
            <a:ext cx="338328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73168" y="4654296"/>
            <a:ext cx="316382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First ~1 day</a:t>
            </a:r>
          </a:p>
          <a:p>
            <a:pPr>
              <a:lnSpc>
                <a:spcPts val="2222"/>
              </a:lnSpc>
              <a:spcBef>
                <a:spcPts val="0"/>
              </a:spcBef>
              <a:spcAft>
                <a:spcPts val="0"/>
              </a:spcAft>
              <a:defRPr sz="1900" b="0">
                <a:solidFill>
                  <a:srgbClr val="183445"/>
                </a:solidFill>
                <a:latin typeface="DejaVu Sans"/>
              </a:defRPr>
            </a:pPr>
            <a:r>
              <a:t>Stable ~6 months</a:t>
            </a:r>
          </a:p>
        </p:txBody>
      </p:sp>
      <p:sp>
        <p:nvSpPr>
          <p:cNvPr id="38" name="Rectangle 37"/>
          <p:cNvSpPr/>
          <p:nvPr/>
        </p:nvSpPr>
        <p:spPr>
          <a:xfrm>
            <a:off x="8046720" y="4480560"/>
            <a:ext cx="36576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4654296"/>
            <a:ext cx="34381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Rain totals + Tmin/Tmax</a:t>
            </a:r>
          </a:p>
        </p:txBody>
      </p:sp>
      <p:sp>
        <p:nvSpPr>
          <p:cNvPr id="40" name="TextBox 39"/>
          <p:cNvSpPr txBox="1"/>
          <p:nvPr/>
        </p:nvSpPr>
        <p:spPr>
          <a:xfrm>
            <a:off x="548640" y="5650992"/>
            <a:ext cx="10972800" cy="548640"/>
          </a:xfrm>
          <a:prstGeom prst="rect">
            <a:avLst/>
          </a:prstGeom>
          <a:noFill/>
        </p:spPr>
        <p:txBody>
          <a:bodyPr wrap="none" lIns="0" rIns="0" tIns="0" bIns="0">
            <a:spAutoFit/>
          </a:bodyPr>
          <a:lstStyle/>
          <a:p>
            <a:pPr>
              <a:lnSpc>
                <a:spcPts val="1872"/>
              </a:lnSpc>
              <a:spcBef>
                <a:spcPts val="0"/>
              </a:spcBef>
              <a:spcAft>
                <a:spcPts val="0"/>
              </a:spcAft>
              <a:defRPr sz="1600" b="0">
                <a:solidFill>
                  <a:srgbClr val="526674"/>
                </a:solidFill>
                <a:latin typeface="DejaVu Sans"/>
              </a:defRPr>
            </a:pPr>
            <a:r>
              <a:t>*Current MRMS latency. Older versions: ~1 / 2 hours. Actual availability varies.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Complete meteorology across time and space</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Complementary roles—not a “reanalysis always wins” rule.</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06</a:t>
            </a:r>
          </a:p>
        </p:txBody>
      </p:sp>
      <p:sp>
        <p:nvSpPr>
          <p:cNvPr id="8" name="Rectangle 7"/>
          <p:cNvSpPr/>
          <p:nvPr/>
        </p:nvSpPr>
        <p:spPr>
          <a:xfrm>
            <a:off x="457200" y="1965960"/>
            <a:ext cx="146304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75688"/>
            <a:ext cx="124358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Source</a:t>
            </a:r>
          </a:p>
        </p:txBody>
      </p:sp>
      <p:sp>
        <p:nvSpPr>
          <p:cNvPr id="10" name="Rectangle 9"/>
          <p:cNvSpPr/>
          <p:nvPr/>
        </p:nvSpPr>
        <p:spPr>
          <a:xfrm>
            <a:off x="1920240" y="1965960"/>
            <a:ext cx="274320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29968" y="2075688"/>
            <a:ext cx="252374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Native grid / time</a:t>
            </a:r>
          </a:p>
        </p:txBody>
      </p:sp>
      <p:sp>
        <p:nvSpPr>
          <p:cNvPr id="12" name="Rectangle 11"/>
          <p:cNvSpPr/>
          <p:nvPr/>
        </p:nvSpPr>
        <p:spPr>
          <a:xfrm>
            <a:off x="4663440" y="1965960"/>
            <a:ext cx="338328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075688"/>
            <a:ext cx="316382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Availability / cycles</a:t>
            </a:r>
          </a:p>
        </p:txBody>
      </p:sp>
      <p:sp>
        <p:nvSpPr>
          <p:cNvPr id="14" name="Rectangle 13"/>
          <p:cNvSpPr/>
          <p:nvPr/>
        </p:nvSpPr>
        <p:spPr>
          <a:xfrm>
            <a:off x="8046720" y="1965960"/>
            <a:ext cx="365760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2075688"/>
            <a:ext cx="343814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Role in this product</a:t>
            </a:r>
          </a:p>
        </p:txBody>
      </p:sp>
      <p:sp>
        <p:nvSpPr>
          <p:cNvPr id="16" name="Rectangle 15"/>
          <p:cNvSpPr/>
          <p:nvPr/>
        </p:nvSpPr>
        <p:spPr>
          <a:xfrm>
            <a:off x="457200" y="2468880"/>
            <a:ext cx="14630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642615"/>
            <a:ext cx="1243584" cy="82296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NLDAS-2</a:t>
            </a:r>
          </a:p>
        </p:txBody>
      </p:sp>
      <p:sp>
        <p:nvSpPr>
          <p:cNvPr id="18" name="Rectangle 17"/>
          <p:cNvSpPr/>
          <p:nvPr/>
        </p:nvSpPr>
        <p:spPr>
          <a:xfrm>
            <a:off x="1920240" y="2468880"/>
            <a:ext cx="27432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29968" y="2642615"/>
            <a:ext cx="25237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0.125° / hourly</a:t>
            </a:r>
          </a:p>
        </p:txBody>
      </p:sp>
      <p:sp>
        <p:nvSpPr>
          <p:cNvPr id="20" name="Rectangle 19"/>
          <p:cNvSpPr/>
          <p:nvPr/>
        </p:nvSpPr>
        <p:spPr>
          <a:xfrm>
            <a:off x="4663440" y="2468880"/>
            <a:ext cx="338328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2642615"/>
            <a:ext cx="316382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~4-day lag</a:t>
            </a:r>
          </a:p>
        </p:txBody>
      </p:sp>
      <p:sp>
        <p:nvSpPr>
          <p:cNvPr id="22" name="Rectangle 21"/>
          <p:cNvSpPr/>
          <p:nvPr/>
        </p:nvSpPr>
        <p:spPr>
          <a:xfrm>
            <a:off x="8046720" y="2468880"/>
            <a:ext cx="36576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2642615"/>
            <a:ext cx="34381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Consistent historical</a:t>
            </a:r>
          </a:p>
          <a:p>
            <a:pPr>
              <a:lnSpc>
                <a:spcPts val="2222"/>
              </a:lnSpc>
              <a:spcBef>
                <a:spcPts val="0"/>
              </a:spcBef>
              <a:spcAft>
                <a:spcPts val="0"/>
              </a:spcAft>
              <a:defRPr sz="1900" b="0">
                <a:solidFill>
                  <a:srgbClr val="183445"/>
                </a:solidFill>
                <a:latin typeface="DejaVu Sans"/>
              </a:defRPr>
            </a:pPr>
            <a:r>
              <a:t>backbone</a:t>
            </a:r>
          </a:p>
        </p:txBody>
      </p:sp>
      <p:sp>
        <p:nvSpPr>
          <p:cNvPr id="24" name="Rectangle 23"/>
          <p:cNvSpPr/>
          <p:nvPr/>
        </p:nvSpPr>
        <p:spPr>
          <a:xfrm>
            <a:off x="457200" y="3474720"/>
            <a:ext cx="146304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48456"/>
            <a:ext cx="1243584" cy="82296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HRRR</a:t>
            </a:r>
          </a:p>
        </p:txBody>
      </p:sp>
      <p:sp>
        <p:nvSpPr>
          <p:cNvPr id="26" name="Rectangle 25"/>
          <p:cNvSpPr/>
          <p:nvPr/>
        </p:nvSpPr>
        <p:spPr>
          <a:xfrm>
            <a:off x="1920240" y="3474720"/>
            <a:ext cx="274320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8" y="3648456"/>
            <a:ext cx="25237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3 km / hourly</a:t>
            </a:r>
          </a:p>
        </p:txBody>
      </p:sp>
      <p:sp>
        <p:nvSpPr>
          <p:cNvPr id="28" name="Rectangle 27"/>
          <p:cNvSpPr/>
          <p:nvPr/>
        </p:nvSpPr>
        <p:spPr>
          <a:xfrm>
            <a:off x="4663440" y="3474720"/>
            <a:ext cx="338328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3648456"/>
            <a:ext cx="316382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Hourly cycles</a:t>
            </a:r>
          </a:p>
          <a:p>
            <a:pPr>
              <a:lnSpc>
                <a:spcPts val="2222"/>
              </a:lnSpc>
              <a:spcBef>
                <a:spcPts val="0"/>
              </a:spcBef>
              <a:spcAft>
                <a:spcPts val="0"/>
              </a:spcAft>
              <a:defRPr sz="1900" b="0">
                <a:solidFill>
                  <a:srgbClr val="183445"/>
                </a:solidFill>
                <a:latin typeface="DejaVu Sans"/>
              </a:defRPr>
            </a:pPr>
            <a:r>
              <a:t>Publication lag varies</a:t>
            </a:r>
          </a:p>
        </p:txBody>
      </p:sp>
      <p:sp>
        <p:nvSpPr>
          <p:cNvPr id="30" name="Rectangle 29"/>
          <p:cNvSpPr/>
          <p:nvPr/>
        </p:nvSpPr>
        <p:spPr>
          <a:xfrm>
            <a:off x="8046720" y="3474720"/>
            <a:ext cx="3657600" cy="100584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6448" y="3648456"/>
            <a:ext cx="34381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Recent hourly analysis;</a:t>
            </a:r>
          </a:p>
          <a:p>
            <a:pPr>
              <a:lnSpc>
                <a:spcPts val="2222"/>
              </a:lnSpc>
              <a:spcBef>
                <a:spcPts val="0"/>
              </a:spcBef>
              <a:spcAft>
                <a:spcPts val="0"/>
              </a:spcAft>
              <a:defRPr sz="1900" b="0">
                <a:solidFill>
                  <a:srgbClr val="183445"/>
                </a:solidFill>
                <a:latin typeface="DejaVu Sans"/>
              </a:defRPr>
            </a:pPr>
            <a:r>
              <a:t>forecast rain</a:t>
            </a:r>
          </a:p>
        </p:txBody>
      </p:sp>
      <p:sp>
        <p:nvSpPr>
          <p:cNvPr id="32" name="Rectangle 31"/>
          <p:cNvSpPr/>
          <p:nvPr/>
        </p:nvSpPr>
        <p:spPr>
          <a:xfrm>
            <a:off x="457200" y="4480560"/>
            <a:ext cx="14630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54296"/>
            <a:ext cx="1243584" cy="82296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GFS</a:t>
            </a:r>
          </a:p>
        </p:txBody>
      </p:sp>
      <p:sp>
        <p:nvSpPr>
          <p:cNvPr id="34" name="Rectangle 33"/>
          <p:cNvSpPr/>
          <p:nvPr/>
        </p:nvSpPr>
        <p:spPr>
          <a:xfrm>
            <a:off x="1920240" y="4480560"/>
            <a:ext cx="27432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29968" y="4654296"/>
            <a:ext cx="25237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0.25° / hourly leads</a:t>
            </a:r>
          </a:p>
        </p:txBody>
      </p:sp>
      <p:sp>
        <p:nvSpPr>
          <p:cNvPr id="36" name="Rectangle 35"/>
          <p:cNvSpPr/>
          <p:nvPr/>
        </p:nvSpPr>
        <p:spPr>
          <a:xfrm>
            <a:off x="4663440" y="4480560"/>
            <a:ext cx="338328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73168" y="4654296"/>
            <a:ext cx="316382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00 / 06 / 12 / 18 UTC</a:t>
            </a:r>
          </a:p>
          <a:p>
            <a:pPr>
              <a:lnSpc>
                <a:spcPts val="2222"/>
              </a:lnSpc>
              <a:spcBef>
                <a:spcPts val="0"/>
              </a:spcBef>
              <a:spcAft>
                <a:spcPts val="0"/>
              </a:spcAft>
              <a:defRPr sz="1900" b="0">
                <a:solidFill>
                  <a:srgbClr val="183445"/>
                </a:solidFill>
                <a:latin typeface="DejaVu Sans"/>
              </a:defRPr>
            </a:pPr>
            <a:r>
              <a:t>Leads 1–6; backup ≤12</a:t>
            </a:r>
          </a:p>
        </p:txBody>
      </p:sp>
      <p:sp>
        <p:nvSpPr>
          <p:cNvPr id="38" name="Rectangle 37"/>
          <p:cNvSpPr/>
          <p:nvPr/>
        </p:nvSpPr>
        <p:spPr>
          <a:xfrm>
            <a:off x="8046720" y="4480560"/>
            <a:ext cx="36576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4654296"/>
            <a:ext cx="3438144" cy="82296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Required northern NRT</a:t>
            </a:r>
          </a:p>
          <a:p>
            <a:pPr>
              <a:lnSpc>
                <a:spcPts val="2222"/>
              </a:lnSpc>
              <a:spcBef>
                <a:spcPts val="0"/>
              </a:spcBef>
              <a:spcAft>
                <a:spcPts val="0"/>
              </a:spcAft>
              <a:defRPr sz="1900" b="0">
                <a:solidFill>
                  <a:srgbClr val="183445"/>
                </a:solidFill>
                <a:latin typeface="DejaVu Sans"/>
              </a:defRPr>
            </a:pPr>
            <a:r>
              <a:t>coverage</a:t>
            </a:r>
          </a:p>
        </p:txBody>
      </p:sp>
      <p:sp>
        <p:nvSpPr>
          <p:cNvPr id="40" name="Rounded Rectangle 39"/>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GFS is a short-forecast gap filler—not an hourly analysis or Retro source.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The same date becomes better informed</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Illustrative data age—not a guaranteed product-delivery timeline.</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07</a:t>
            </a:r>
          </a:p>
        </p:txBody>
      </p:sp>
      <p:sp>
        <p:nvSpPr>
          <p:cNvPr id="8" name="Rounded Rectangle 7"/>
          <p:cNvSpPr/>
          <p:nvPr/>
        </p:nvSpPr>
        <p:spPr>
          <a:xfrm>
            <a:off x="457200" y="2377440"/>
            <a:ext cx="25603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77440"/>
            <a:ext cx="54864" cy="228600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Hours</a:t>
            </a:r>
          </a:p>
        </p:txBody>
      </p:sp>
      <p:sp>
        <p:nvSpPr>
          <p:cNvPr id="11" name="TextBox 10"/>
          <p:cNvSpPr txBox="1"/>
          <p:nvPr/>
        </p:nvSpPr>
        <p:spPr>
          <a:xfrm>
            <a:off x="640080" y="3291840"/>
            <a:ext cx="2194560" cy="12618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MRMS / Stage-IV</a:t>
            </a:r>
          </a:p>
          <a:p>
            <a:pPr>
              <a:lnSpc>
                <a:spcPts val="2340"/>
              </a:lnSpc>
              <a:spcBef>
                <a:spcPts val="0"/>
              </a:spcBef>
              <a:spcAft>
                <a:spcPts val="0"/>
              </a:spcAft>
              <a:defRPr sz="2000" b="0">
                <a:solidFill>
                  <a:srgbClr val="183445"/>
                </a:solidFill>
                <a:latin typeface="DejaVu Sans"/>
              </a:defRPr>
            </a:pPr>
            <a:r>
              <a:t>HRRR + GFS</a:t>
            </a:r>
          </a:p>
        </p:txBody>
      </p:sp>
      <p:sp>
        <p:nvSpPr>
          <p:cNvPr id="12" name="Right Arrow 11"/>
          <p:cNvSpPr/>
          <p:nvPr/>
        </p:nvSpPr>
        <p:spPr>
          <a:xfrm>
            <a:off x="3081528" y="324612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2377440"/>
            <a:ext cx="25603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2377440"/>
            <a:ext cx="54864" cy="228600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~1 day</a:t>
            </a:r>
          </a:p>
        </p:txBody>
      </p:sp>
      <p:sp>
        <p:nvSpPr>
          <p:cNvPr id="16" name="TextBox 15"/>
          <p:cNvSpPr txBox="1"/>
          <p:nvPr/>
        </p:nvSpPr>
        <p:spPr>
          <a:xfrm>
            <a:off x="3520440" y="3291840"/>
            <a:ext cx="2194560" cy="12618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Early PRISM</a:t>
            </a:r>
          </a:p>
          <a:p>
            <a:pPr>
              <a:lnSpc>
                <a:spcPts val="2340"/>
              </a:lnSpc>
              <a:spcBef>
                <a:spcPts val="0"/>
              </a:spcBef>
              <a:spcAft>
                <a:spcPts val="0"/>
              </a:spcAft>
              <a:defRPr sz="2000" b="0">
                <a:solidFill>
                  <a:srgbClr val="183445"/>
                </a:solidFill>
                <a:latin typeface="DejaVu Sans"/>
              </a:defRPr>
            </a:pPr>
            <a:r>
              <a:t>constraints</a:t>
            </a:r>
          </a:p>
        </p:txBody>
      </p:sp>
      <p:sp>
        <p:nvSpPr>
          <p:cNvPr id="17" name="Right Arrow 16"/>
          <p:cNvSpPr/>
          <p:nvPr/>
        </p:nvSpPr>
        <p:spPr>
          <a:xfrm>
            <a:off x="5961888" y="324612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2377440"/>
            <a:ext cx="25603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377440"/>
            <a:ext cx="54864" cy="228600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~4 days</a:t>
            </a:r>
          </a:p>
        </p:txBody>
      </p:sp>
      <p:sp>
        <p:nvSpPr>
          <p:cNvPr id="21" name="TextBox 20"/>
          <p:cNvSpPr txBox="1"/>
          <p:nvPr/>
        </p:nvSpPr>
        <p:spPr>
          <a:xfrm>
            <a:off x="6400800" y="3291840"/>
            <a:ext cx="2194560" cy="12618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NLDAS-2</a:t>
            </a:r>
          </a:p>
          <a:p>
            <a:pPr>
              <a:lnSpc>
                <a:spcPts val="2340"/>
              </a:lnSpc>
              <a:spcBef>
                <a:spcPts val="0"/>
              </a:spcBef>
              <a:spcAft>
                <a:spcPts val="0"/>
              </a:spcAft>
              <a:defRPr sz="2000" b="0">
                <a:solidFill>
                  <a:srgbClr val="183445"/>
                </a:solidFill>
                <a:latin typeface="DejaVu Sans"/>
              </a:defRPr>
            </a:pPr>
            <a:r>
              <a:t>replaces</a:t>
            </a:r>
          </a:p>
          <a:p>
            <a:pPr>
              <a:lnSpc>
                <a:spcPts val="2340"/>
              </a:lnSpc>
              <a:spcBef>
                <a:spcPts val="0"/>
              </a:spcBef>
              <a:spcAft>
                <a:spcPts val="0"/>
              </a:spcAft>
              <a:defRPr sz="2000" b="0">
                <a:solidFill>
                  <a:srgbClr val="183445"/>
                </a:solidFill>
                <a:latin typeface="DejaVu Sans"/>
              </a:defRPr>
            </a:pPr>
            <a:r>
              <a:t>HRRR / GFS</a:t>
            </a:r>
          </a:p>
        </p:txBody>
      </p:sp>
      <p:sp>
        <p:nvSpPr>
          <p:cNvPr id="22" name="Right Arrow 21"/>
          <p:cNvSpPr/>
          <p:nvPr/>
        </p:nvSpPr>
        <p:spPr>
          <a:xfrm>
            <a:off x="8842248" y="324612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2377440"/>
            <a:ext cx="25603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98280" y="2377440"/>
            <a:ext cx="54864" cy="2286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59"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~6 months</a:t>
            </a:r>
          </a:p>
        </p:txBody>
      </p:sp>
      <p:sp>
        <p:nvSpPr>
          <p:cNvPr id="26" name="TextBox 25"/>
          <p:cNvSpPr txBox="1"/>
          <p:nvPr/>
        </p:nvSpPr>
        <p:spPr>
          <a:xfrm>
            <a:off x="9281159" y="3291840"/>
            <a:ext cx="2194560" cy="12618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Stable PRISM</a:t>
            </a:r>
          </a:p>
          <a:p>
            <a:pPr>
              <a:lnSpc>
                <a:spcPts val="2340"/>
              </a:lnSpc>
              <a:spcBef>
                <a:spcPts val="0"/>
              </a:spcBef>
              <a:spcAft>
                <a:spcPts val="0"/>
              </a:spcAft>
              <a:defRPr sz="2000" b="0">
                <a:solidFill>
                  <a:srgbClr val="183445"/>
                </a:solidFill>
                <a:latin typeface="DejaVu Sans"/>
              </a:defRPr>
            </a:pPr>
            <a:r>
              <a:t>Retro eligibility</a:t>
            </a:r>
          </a:p>
        </p:txBody>
      </p:sp>
      <p:sp>
        <p:nvSpPr>
          <p:cNvPr id="27" name="Rounded Rectangle 26"/>
          <p:cNvSpPr/>
          <p:nvPr/>
        </p:nvSpPr>
        <p:spPr>
          <a:xfrm>
            <a:off x="594360" y="4983480"/>
            <a:ext cx="8138160" cy="438912"/>
          </a:xfrm>
          <a:prstGeom prst="round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38344"/>
            <a:ext cx="7772400" cy="320040"/>
          </a:xfrm>
          <a:prstGeom prst="rect">
            <a:avLst/>
          </a:prstGeom>
          <a:noFill/>
        </p:spPr>
        <p:txBody>
          <a:bodyPr wrap="none" lIns="0" rIns="0" tIns="0" bIns="0">
            <a:spAutoFit/>
          </a:bodyPr>
          <a:lstStyle/>
          <a:p>
            <a:pPr>
              <a:lnSpc>
                <a:spcPts val="2106"/>
              </a:lnSpc>
              <a:spcBef>
                <a:spcPts val="0"/>
              </a:spcBef>
              <a:spcAft>
                <a:spcPts val="0"/>
              </a:spcAft>
              <a:defRPr sz="1800" b="0">
                <a:solidFill>
                  <a:srgbClr val="FFFFFF"/>
                </a:solidFill>
                <a:latin typeface="DejaVu Sans"/>
              </a:defRPr>
            </a:pPr>
            <a:r>
              <a:t>NRT: mutable as observations and revisions arrive</a:t>
            </a:r>
          </a:p>
        </p:txBody>
      </p:sp>
      <p:sp>
        <p:nvSpPr>
          <p:cNvPr id="29" name="Rounded Rectangle 28"/>
          <p:cNvSpPr/>
          <p:nvPr/>
        </p:nvSpPr>
        <p:spPr>
          <a:xfrm>
            <a:off x="9144000" y="4983480"/>
            <a:ext cx="2468880" cy="438912"/>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1160" y="5038344"/>
            <a:ext cx="2194560" cy="320040"/>
          </a:xfrm>
          <a:prstGeom prst="rect">
            <a:avLst/>
          </a:prstGeom>
          <a:noFill/>
        </p:spPr>
        <p:txBody>
          <a:bodyPr wrap="none" lIns="0" rIns="0" tIns="0" bIns="0">
            <a:spAutoFit/>
          </a:bodyPr>
          <a:lstStyle/>
          <a:p>
            <a:pPr>
              <a:lnSpc>
                <a:spcPts val="2106"/>
              </a:lnSpc>
              <a:spcBef>
                <a:spcPts val="0"/>
              </a:spcBef>
              <a:spcAft>
                <a:spcPts val="0"/>
              </a:spcAft>
              <a:defRPr sz="1800" b="0">
                <a:solidFill>
                  <a:srgbClr val="FFFFFF"/>
                </a:solidFill>
                <a:latin typeface="DejaVu Sans"/>
              </a:defRPr>
            </a:pPr>
            <a:r>
              <a:t>Retro: stable</a:t>
            </a:r>
          </a:p>
        </p:txBody>
      </p:sp>
      <p:sp>
        <p:nvSpPr>
          <p:cNvPr id="31" name="Rounded Rectangle 30"/>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Check actual completeness and revisions—not age alone.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Precipitation: select locally, constrain daily</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Quality and coverage can change the preferred source from cell to cell.</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08</a:t>
            </a:r>
          </a:p>
        </p:txBody>
      </p:sp>
      <p:sp>
        <p:nvSpPr>
          <p:cNvPr id="8" name="Rounded Rectangle 7"/>
          <p:cNvSpPr/>
          <p:nvPr/>
        </p:nvSpPr>
        <p:spPr>
          <a:xfrm>
            <a:off x="457200" y="2194560"/>
            <a:ext cx="352044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94560"/>
            <a:ext cx="54864" cy="2880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7744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Eligible sources</a:t>
            </a:r>
          </a:p>
        </p:txBody>
      </p:sp>
      <p:sp>
        <p:nvSpPr>
          <p:cNvPr id="11" name="TextBox 10"/>
          <p:cNvSpPr txBox="1"/>
          <p:nvPr/>
        </p:nvSpPr>
        <p:spPr>
          <a:xfrm>
            <a:off x="640080" y="3108960"/>
            <a:ext cx="3154680" cy="1856231"/>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MRMS passes</a:t>
            </a:r>
          </a:p>
          <a:p>
            <a:pPr>
              <a:lnSpc>
                <a:spcPts val="2340"/>
              </a:lnSpc>
              <a:spcBef>
                <a:spcPts val="0"/>
              </a:spcBef>
              <a:spcAft>
                <a:spcPts val="0"/>
              </a:spcAft>
              <a:defRPr sz="2000" b="0">
                <a:solidFill>
                  <a:srgbClr val="183445"/>
                </a:solidFill>
                <a:latin typeface="DejaVu Sans"/>
              </a:defRPr>
            </a:pPr>
            <a:r>
              <a:t>Stage-IV</a:t>
            </a:r>
          </a:p>
          <a:p>
            <a:pPr>
              <a:lnSpc>
                <a:spcPts val="2340"/>
              </a:lnSpc>
              <a:spcBef>
                <a:spcPts val="0"/>
              </a:spcBef>
              <a:spcAft>
                <a:spcPts val="0"/>
              </a:spcAft>
              <a:defRPr sz="2000" b="0">
                <a:solidFill>
                  <a:srgbClr val="183445"/>
                </a:solidFill>
                <a:latin typeface="DejaVu Sans"/>
              </a:defRPr>
            </a:pPr>
            <a:r>
              <a:t>NLDAS-2 → HRRR</a:t>
            </a:r>
          </a:p>
        </p:txBody>
      </p:sp>
      <p:sp>
        <p:nvSpPr>
          <p:cNvPr id="12" name="Right Arrow 11"/>
          <p:cNvSpPr/>
          <p:nvPr/>
        </p:nvSpPr>
        <p:spPr>
          <a:xfrm>
            <a:off x="4041648" y="338328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80" y="2194560"/>
            <a:ext cx="352044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194560"/>
            <a:ext cx="54864" cy="2880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37744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Hourly composite</a:t>
            </a:r>
          </a:p>
        </p:txBody>
      </p:sp>
      <p:sp>
        <p:nvSpPr>
          <p:cNvPr id="16" name="TextBox 15"/>
          <p:cNvSpPr txBox="1"/>
          <p:nvPr/>
        </p:nvSpPr>
        <p:spPr>
          <a:xfrm>
            <a:off x="4480560" y="3108960"/>
            <a:ext cx="3154680" cy="1856231"/>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Quality + coverage</a:t>
            </a:r>
          </a:p>
          <a:p>
            <a:pPr>
              <a:lnSpc>
                <a:spcPts val="2340"/>
              </a:lnSpc>
              <a:spcBef>
                <a:spcPts val="0"/>
              </a:spcBef>
              <a:spcAft>
                <a:spcPts val="0"/>
              </a:spcAft>
              <a:defRPr sz="2000" b="0">
                <a:solidFill>
                  <a:srgbClr val="183445"/>
                </a:solidFill>
                <a:latin typeface="DejaVu Sans"/>
              </a:defRPr>
            </a:pPr>
            <a:r>
              <a:t>Regional exceptions</a:t>
            </a:r>
          </a:p>
          <a:p>
            <a:pPr>
              <a:lnSpc>
                <a:spcPts val="2340"/>
              </a:lnSpc>
              <a:spcBef>
                <a:spcPts val="0"/>
              </a:spcBef>
              <a:spcAft>
                <a:spcPts val="0"/>
              </a:spcAft>
              <a:defRPr sz="2000" b="0">
                <a:solidFill>
                  <a:srgbClr val="183445"/>
                </a:solidFill>
                <a:latin typeface="DejaVu Sans"/>
              </a:defRPr>
            </a:pPr>
            <a:r>
              <a:t>Preserve valid zeros</a:t>
            </a:r>
          </a:p>
        </p:txBody>
      </p:sp>
      <p:sp>
        <p:nvSpPr>
          <p:cNvPr id="17" name="Right Arrow 16"/>
          <p:cNvSpPr/>
          <p:nvPr/>
        </p:nvSpPr>
        <p:spPr>
          <a:xfrm>
            <a:off x="7882128" y="338328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2194560"/>
            <a:ext cx="352044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2194560"/>
            <a:ext cx="54864" cy="2880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37744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PRISM constraint</a:t>
            </a:r>
          </a:p>
        </p:txBody>
      </p:sp>
      <p:sp>
        <p:nvSpPr>
          <p:cNvPr id="21" name="TextBox 20"/>
          <p:cNvSpPr txBox="1"/>
          <p:nvPr/>
        </p:nvSpPr>
        <p:spPr>
          <a:xfrm>
            <a:off x="8321040" y="3108960"/>
            <a:ext cx="3154680" cy="1856231"/>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Adjust daily amount</a:t>
            </a:r>
          </a:p>
          <a:p>
            <a:pPr>
              <a:lnSpc>
                <a:spcPts val="2340"/>
              </a:lnSpc>
              <a:spcBef>
                <a:spcPts val="0"/>
              </a:spcBef>
              <a:spcAft>
                <a:spcPts val="0"/>
              </a:spcAft>
              <a:defRPr sz="2000" b="0">
                <a:solidFill>
                  <a:srgbClr val="183445"/>
                </a:solidFill>
                <a:latin typeface="DejaVu Sans"/>
              </a:defRPr>
            </a:pPr>
            <a:r>
              <a:t>Retain hourly timing</a:t>
            </a:r>
          </a:p>
          <a:p>
            <a:pPr>
              <a:lnSpc>
                <a:spcPts val="2340"/>
              </a:lnSpc>
              <a:spcBef>
                <a:spcPts val="0"/>
              </a:spcBef>
              <a:spcAft>
                <a:spcPts val="0"/>
              </a:spcAft>
              <a:defRPr sz="2000" b="0">
                <a:solidFill>
                  <a:srgbClr val="183445"/>
                </a:solidFill>
                <a:latin typeface="DejaVu Sans"/>
              </a:defRPr>
            </a:pPr>
            <a:r>
              <a:t>Guard dry/wet cases</a:t>
            </a:r>
          </a:p>
        </p:txBody>
      </p:sp>
      <p:sp>
        <p:nvSpPr>
          <p:cNvPr id="22" name="Rounded Rectangle 21"/>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GFS fills unsupported northern rain only; it never overwrites valid rain.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PRISM changes the amount—not the storm clock</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Schematic example: hourly pattern × 1.5 gives the PRISM daily total.</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09</a:t>
            </a:r>
          </a:p>
        </p:txBody>
      </p:sp>
      <p:sp>
        <p:nvSpPr>
          <p:cNvPr id="8" name="TextBox 7"/>
          <p:cNvSpPr txBox="1"/>
          <p:nvPr/>
        </p:nvSpPr>
        <p:spPr>
          <a:xfrm>
            <a:off x="640080" y="2148840"/>
            <a:ext cx="5120640" cy="457200"/>
          </a:xfrm>
          <a:prstGeom prst="rect">
            <a:avLst/>
          </a:prstGeom>
          <a:noFill/>
        </p:spPr>
        <p:txBody>
          <a:bodyPr wrap="none" lIns="0" rIns="0" tIns="0" bIns="0">
            <a:spAutoFit/>
          </a:bodyPr>
          <a:lstStyle/>
          <a:p>
            <a:pPr>
              <a:lnSpc>
                <a:spcPts val="2690"/>
              </a:lnSpc>
              <a:spcBef>
                <a:spcPts val="0"/>
              </a:spcBef>
              <a:spcAft>
                <a:spcPts val="0"/>
              </a:spcAft>
              <a:defRPr sz="2300" b="1">
                <a:solidFill>
                  <a:srgbClr val="3975B7"/>
                </a:solidFill>
                <a:latin typeface="DejaVu Sans"/>
              </a:defRPr>
            </a:pPr>
            <a:r>
              <a:t>Hourly composite: 12 mm</a:t>
            </a:r>
          </a:p>
        </p:txBody>
      </p:sp>
      <p:sp>
        <p:nvSpPr>
          <p:cNvPr id="9" name="Rectangle 8"/>
          <p:cNvSpPr/>
          <p:nvPr/>
        </p:nvSpPr>
        <p:spPr>
          <a:xfrm>
            <a:off x="640080" y="5029200"/>
            <a:ext cx="274320" cy="13716"/>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4127" y="5029200"/>
            <a:ext cx="274320" cy="13716"/>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08176" y="4727448"/>
            <a:ext cx="274320" cy="301752"/>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92224" y="4425696"/>
            <a:ext cx="274320" cy="603504"/>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76272" y="3822191"/>
            <a:ext cx="274320" cy="1207008"/>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4425696"/>
            <a:ext cx="274320" cy="603504"/>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44368" y="4727448"/>
            <a:ext cx="274320" cy="301752"/>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5" y="5029200"/>
            <a:ext cx="274320" cy="13716"/>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12463" y="5029200"/>
            <a:ext cx="274320" cy="13716"/>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96511" y="4727448"/>
            <a:ext cx="274320" cy="301752"/>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727448"/>
            <a:ext cx="274320" cy="301752"/>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64608" y="5029200"/>
            <a:ext cx="274320" cy="13716"/>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029200"/>
            <a:ext cx="4709160" cy="22860"/>
          </a:xfrm>
          <a:prstGeom prst="rect">
            <a:avLst/>
          </a:prstGeom>
          <a:solidFill>
            <a:srgbClr val="526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12080"/>
            <a:ext cx="4937760" cy="320040"/>
          </a:xfrm>
          <a:prstGeom prst="rect">
            <a:avLst/>
          </a:prstGeom>
          <a:noFill/>
        </p:spPr>
        <p:txBody>
          <a:bodyPr wrap="none" lIns="0" rIns="0" tIns="0" bIns="0">
            <a:spAutoFit/>
          </a:bodyPr>
          <a:lstStyle/>
          <a:p>
            <a:pPr>
              <a:lnSpc>
                <a:spcPts val="1989"/>
              </a:lnSpc>
              <a:spcBef>
                <a:spcPts val="0"/>
              </a:spcBef>
              <a:spcAft>
                <a:spcPts val="0"/>
              </a:spcAft>
              <a:defRPr sz="1700" b="0">
                <a:solidFill>
                  <a:srgbClr val="526674"/>
                </a:solidFill>
                <a:latin typeface="DejaVu Sans"/>
              </a:defRPr>
            </a:pPr>
            <a:r>
              <a:t>Time within PRISM day →</a:t>
            </a:r>
          </a:p>
        </p:txBody>
      </p:sp>
      <p:sp>
        <p:nvSpPr>
          <p:cNvPr id="23" name="TextBox 22"/>
          <p:cNvSpPr txBox="1"/>
          <p:nvPr/>
        </p:nvSpPr>
        <p:spPr>
          <a:xfrm>
            <a:off x="6400800" y="2148840"/>
            <a:ext cx="5120640" cy="457200"/>
          </a:xfrm>
          <a:prstGeom prst="rect">
            <a:avLst/>
          </a:prstGeom>
          <a:noFill/>
        </p:spPr>
        <p:txBody>
          <a:bodyPr wrap="none" lIns="0" rIns="0" tIns="0" bIns="0">
            <a:spAutoFit/>
          </a:bodyPr>
          <a:lstStyle/>
          <a:p>
            <a:pPr>
              <a:lnSpc>
                <a:spcPts val="2690"/>
              </a:lnSpc>
              <a:spcBef>
                <a:spcPts val="0"/>
              </a:spcBef>
              <a:spcAft>
                <a:spcPts val="0"/>
              </a:spcAft>
              <a:defRPr sz="2300" b="1">
                <a:solidFill>
                  <a:srgbClr val="087F8C"/>
                </a:solidFill>
                <a:latin typeface="DejaVu Sans"/>
              </a:defRPr>
            </a:pPr>
            <a:r>
              <a:t>PRISM-constrained: 18 mm</a:t>
            </a:r>
          </a:p>
        </p:txBody>
      </p:sp>
      <p:sp>
        <p:nvSpPr>
          <p:cNvPr id="24" name="Rectangle 23"/>
          <p:cNvSpPr/>
          <p:nvPr/>
        </p:nvSpPr>
        <p:spPr>
          <a:xfrm>
            <a:off x="6400800" y="5029200"/>
            <a:ext cx="274320" cy="137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784848" y="5029200"/>
            <a:ext cx="274320" cy="137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68896" y="4576572"/>
            <a:ext cx="274320" cy="4526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52944" y="4123944"/>
            <a:ext cx="274320" cy="9052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36992" y="3218688"/>
            <a:ext cx="274320" cy="18105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40" y="4123944"/>
            <a:ext cx="274320" cy="9052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705088" y="4576572"/>
            <a:ext cx="274320" cy="4526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89136" y="5029200"/>
            <a:ext cx="274320" cy="137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5029200"/>
            <a:ext cx="274320" cy="137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57232" y="4576572"/>
            <a:ext cx="274320" cy="4526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41280" y="4576572"/>
            <a:ext cx="274320" cy="4526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625328" y="5029200"/>
            <a:ext cx="274320" cy="137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5029200"/>
            <a:ext cx="4709160" cy="22860"/>
          </a:xfrm>
          <a:prstGeom prst="rect">
            <a:avLst/>
          </a:prstGeom>
          <a:solidFill>
            <a:srgbClr val="526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5212080"/>
            <a:ext cx="4937760" cy="320040"/>
          </a:xfrm>
          <a:prstGeom prst="rect">
            <a:avLst/>
          </a:prstGeom>
          <a:noFill/>
        </p:spPr>
        <p:txBody>
          <a:bodyPr wrap="none" lIns="0" rIns="0" tIns="0" bIns="0">
            <a:spAutoFit/>
          </a:bodyPr>
          <a:lstStyle/>
          <a:p>
            <a:pPr>
              <a:lnSpc>
                <a:spcPts val="1989"/>
              </a:lnSpc>
              <a:spcBef>
                <a:spcPts val="0"/>
              </a:spcBef>
              <a:spcAft>
                <a:spcPts val="0"/>
              </a:spcAft>
              <a:defRPr sz="1700" b="0">
                <a:solidFill>
                  <a:srgbClr val="526674"/>
                </a:solidFill>
                <a:latin typeface="DejaVu Sans"/>
              </a:defRPr>
            </a:pPr>
            <a:r>
              <a:t>Time within PRISM day →</a:t>
            </a:r>
          </a:p>
        </p:txBody>
      </p:sp>
      <p:sp>
        <p:nvSpPr>
          <p:cNvPr id="38" name="Right Arrow 37"/>
          <p:cNvSpPr/>
          <p:nvPr/>
        </p:nvSpPr>
        <p:spPr>
          <a:xfrm>
            <a:off x="5504688" y="3474720"/>
            <a:ext cx="4572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PRISM 12–12 windows are internal. Published files remain 00–23 UTC.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Terrain corrections stay physically coupled</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Elevation-aware downscaling follows the Cosgrove framework.</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10</a:t>
            </a:r>
          </a:p>
        </p:txBody>
      </p:sp>
      <p:sp>
        <p:nvSpPr>
          <p:cNvPr id="8" name="Rounded Rectangle 7"/>
          <p:cNvSpPr/>
          <p:nvPr/>
        </p:nvSpPr>
        <p:spPr>
          <a:xfrm>
            <a:off x="457200" y="2286000"/>
            <a:ext cx="260604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86000"/>
            <a:ext cx="54864" cy="2468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6888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Temperature</a:t>
            </a:r>
          </a:p>
        </p:txBody>
      </p:sp>
      <p:sp>
        <p:nvSpPr>
          <p:cNvPr id="11" name="TextBox 10"/>
          <p:cNvSpPr txBox="1"/>
          <p:nvPr/>
        </p:nvSpPr>
        <p:spPr>
          <a:xfrm>
            <a:off x="640080" y="3200400"/>
            <a:ext cx="2240280" cy="14447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Fixed lapse-rate</a:t>
            </a:r>
          </a:p>
          <a:p>
            <a:pPr>
              <a:lnSpc>
                <a:spcPts val="2340"/>
              </a:lnSpc>
              <a:spcBef>
                <a:spcPts val="0"/>
              </a:spcBef>
              <a:spcAft>
                <a:spcPts val="0"/>
              </a:spcAft>
              <a:defRPr sz="2000" b="0">
                <a:solidFill>
                  <a:srgbClr val="183445"/>
                </a:solidFill>
                <a:latin typeface="DejaVu Sans"/>
              </a:defRPr>
            </a:pPr>
            <a:r>
              <a:t>elevation</a:t>
            </a:r>
          </a:p>
          <a:p>
            <a:pPr>
              <a:lnSpc>
                <a:spcPts val="2340"/>
              </a:lnSpc>
              <a:spcBef>
                <a:spcPts val="0"/>
              </a:spcBef>
              <a:spcAft>
                <a:spcPts val="0"/>
              </a:spcAft>
              <a:defRPr sz="2000" b="0">
                <a:solidFill>
                  <a:srgbClr val="183445"/>
                </a:solidFill>
                <a:latin typeface="DejaVu Sans"/>
              </a:defRPr>
            </a:pPr>
            <a:r>
              <a:t>adjustment</a:t>
            </a:r>
          </a:p>
        </p:txBody>
      </p:sp>
      <p:sp>
        <p:nvSpPr>
          <p:cNvPr id="12" name="Right Arrow 11"/>
          <p:cNvSpPr/>
          <p:nvPr/>
        </p:nvSpPr>
        <p:spPr>
          <a:xfrm>
            <a:off x="3099816" y="320040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2286000"/>
            <a:ext cx="260604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2286000"/>
            <a:ext cx="54864" cy="2468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46888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Pressure</a:t>
            </a:r>
          </a:p>
        </p:txBody>
      </p:sp>
      <p:sp>
        <p:nvSpPr>
          <p:cNvPr id="16" name="TextBox 15"/>
          <p:cNvSpPr txBox="1"/>
          <p:nvPr/>
        </p:nvSpPr>
        <p:spPr>
          <a:xfrm>
            <a:off x="3520440" y="3200400"/>
            <a:ext cx="2240280" cy="14447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Hydrostatic</a:t>
            </a:r>
          </a:p>
          <a:p>
            <a:pPr>
              <a:lnSpc>
                <a:spcPts val="2340"/>
              </a:lnSpc>
              <a:spcBef>
                <a:spcPts val="0"/>
              </a:spcBef>
              <a:spcAft>
                <a:spcPts val="0"/>
              </a:spcAft>
              <a:defRPr sz="2000" b="0">
                <a:solidFill>
                  <a:srgbClr val="183445"/>
                </a:solidFill>
                <a:latin typeface="DejaVu Sans"/>
              </a:defRPr>
            </a:pPr>
            <a:r>
              <a:t>profile</a:t>
            </a:r>
          </a:p>
          <a:p>
            <a:pPr>
              <a:lnSpc>
                <a:spcPts val="2340"/>
              </a:lnSpc>
              <a:spcBef>
                <a:spcPts val="0"/>
              </a:spcBef>
              <a:spcAft>
                <a:spcPts val="0"/>
              </a:spcAft>
              <a:defRPr sz="2000" b="0">
                <a:solidFill>
                  <a:srgbClr val="183445"/>
                </a:solidFill>
                <a:latin typeface="DejaVu Sans"/>
              </a:defRPr>
            </a:pPr>
            <a:r>
              <a:t>using</a:t>
            </a:r>
          </a:p>
          <a:p>
            <a:pPr>
              <a:lnSpc>
                <a:spcPts val="2340"/>
              </a:lnSpc>
              <a:spcBef>
                <a:spcPts val="0"/>
              </a:spcBef>
              <a:spcAft>
                <a:spcPts val="0"/>
              </a:spcAft>
              <a:defRPr sz="2000" b="0">
                <a:solidFill>
                  <a:srgbClr val="183445"/>
                </a:solidFill>
                <a:latin typeface="DejaVu Sans"/>
              </a:defRPr>
            </a:pPr>
            <a:r>
              <a:t>temperature</a:t>
            </a:r>
          </a:p>
        </p:txBody>
      </p:sp>
      <p:sp>
        <p:nvSpPr>
          <p:cNvPr id="17" name="Right Arrow 16"/>
          <p:cNvSpPr/>
          <p:nvPr/>
        </p:nvSpPr>
        <p:spPr>
          <a:xfrm>
            <a:off x="5980176" y="320040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2286000"/>
            <a:ext cx="260604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286000"/>
            <a:ext cx="54864" cy="2468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46888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Humidity</a:t>
            </a:r>
          </a:p>
        </p:txBody>
      </p:sp>
      <p:sp>
        <p:nvSpPr>
          <p:cNvPr id="21" name="TextBox 20"/>
          <p:cNvSpPr txBox="1"/>
          <p:nvPr/>
        </p:nvSpPr>
        <p:spPr>
          <a:xfrm>
            <a:off x="6400800" y="3200400"/>
            <a:ext cx="2240280" cy="14447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Interpolate RH</a:t>
            </a:r>
          </a:p>
          <a:p>
            <a:pPr>
              <a:lnSpc>
                <a:spcPts val="2340"/>
              </a:lnSpc>
              <a:spcBef>
                <a:spcPts val="0"/>
              </a:spcBef>
              <a:spcAft>
                <a:spcPts val="0"/>
              </a:spcAft>
              <a:defRPr sz="2000" b="0">
                <a:solidFill>
                  <a:srgbClr val="183445"/>
                </a:solidFill>
                <a:latin typeface="DejaVu Sans"/>
              </a:defRPr>
            </a:pPr>
            <a:r>
              <a:t>Recompute</a:t>
            </a:r>
          </a:p>
          <a:p>
            <a:pPr>
              <a:lnSpc>
                <a:spcPts val="2340"/>
              </a:lnSpc>
              <a:spcBef>
                <a:spcPts val="0"/>
              </a:spcBef>
              <a:spcAft>
                <a:spcPts val="0"/>
              </a:spcAft>
              <a:defRPr sz="2000" b="0">
                <a:solidFill>
                  <a:srgbClr val="183445"/>
                </a:solidFill>
                <a:latin typeface="DejaVu Sans"/>
              </a:defRPr>
            </a:pPr>
            <a:r>
              <a:t>specific humidity</a:t>
            </a:r>
          </a:p>
        </p:txBody>
      </p:sp>
      <p:sp>
        <p:nvSpPr>
          <p:cNvPr id="22" name="Right Arrow 21"/>
          <p:cNvSpPr/>
          <p:nvPr/>
        </p:nvSpPr>
        <p:spPr>
          <a:xfrm>
            <a:off x="8860536" y="320040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2286000"/>
            <a:ext cx="260604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98280" y="2286000"/>
            <a:ext cx="54864" cy="2468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59" y="2468880"/>
            <a:ext cx="22402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Longwave</a:t>
            </a:r>
          </a:p>
        </p:txBody>
      </p:sp>
      <p:sp>
        <p:nvSpPr>
          <p:cNvPr id="26" name="TextBox 25"/>
          <p:cNvSpPr txBox="1"/>
          <p:nvPr/>
        </p:nvSpPr>
        <p:spPr>
          <a:xfrm>
            <a:off x="9281159" y="3200400"/>
            <a:ext cx="2240280" cy="144475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Adjust effective</a:t>
            </a:r>
          </a:p>
          <a:p>
            <a:pPr>
              <a:lnSpc>
                <a:spcPts val="2340"/>
              </a:lnSpc>
              <a:spcBef>
                <a:spcPts val="0"/>
              </a:spcBef>
              <a:spcAft>
                <a:spcPts val="0"/>
              </a:spcAft>
              <a:defRPr sz="2000" b="0">
                <a:solidFill>
                  <a:srgbClr val="183445"/>
                </a:solidFill>
                <a:latin typeface="DejaVu Sans"/>
              </a:defRPr>
            </a:pPr>
            <a:r>
              <a:t>emission</a:t>
            </a:r>
          </a:p>
          <a:p>
            <a:pPr>
              <a:lnSpc>
                <a:spcPts val="2340"/>
              </a:lnSpc>
              <a:spcBef>
                <a:spcPts val="0"/>
              </a:spcBef>
              <a:spcAft>
                <a:spcPts val="0"/>
              </a:spcAft>
              <a:defRPr sz="2000" b="0">
                <a:solidFill>
                  <a:srgbClr val="183445"/>
                </a:solidFill>
                <a:latin typeface="DejaVu Sans"/>
              </a:defRPr>
            </a:pPr>
            <a:r>
              <a:t>temperature</a:t>
            </a:r>
          </a:p>
        </p:txBody>
      </p:sp>
      <p:sp>
        <p:nvSpPr>
          <p:cNvPr id="27" name="TextBox 26"/>
          <p:cNvSpPr txBox="1"/>
          <p:nvPr/>
        </p:nvSpPr>
        <p:spPr>
          <a:xfrm>
            <a:off x="640080" y="5074920"/>
            <a:ext cx="10881360" cy="457200"/>
          </a:xfrm>
          <a:prstGeom prst="rect">
            <a:avLst/>
          </a:prstGeom>
          <a:noFill/>
        </p:spPr>
        <p:txBody>
          <a:bodyPr wrap="none" lIns="0" rIns="0" tIns="0" bIns="0">
            <a:spAutoFit/>
          </a:bodyPr>
          <a:lstStyle/>
          <a:p>
            <a:pPr>
              <a:lnSpc>
                <a:spcPts val="2457"/>
              </a:lnSpc>
              <a:spcBef>
                <a:spcPts val="0"/>
              </a:spcBef>
              <a:spcAft>
                <a:spcPts val="0"/>
              </a:spcAft>
              <a:defRPr sz="2100" b="1">
                <a:solidFill>
                  <a:srgbClr val="183445"/>
                </a:solidFill>
                <a:latin typeface="DejaVu Sans"/>
              </a:defRPr>
            </a:pPr>
            <a:r>
              <a:t>PRISM temperature revisions also update humidity and longwave.</a:t>
            </a:r>
          </a:p>
        </p:txBody>
      </p:sp>
      <p:sp>
        <p:nvSpPr>
          <p:cNvPr id="28" name="Rounded Rectangle 27"/>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Rotate wind vectors correctly. Preserve nighttime shortwave behavior.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The northern HRRR gap must not stop NWM</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GFS completion is required for HRRR-selected NRT hours.</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11</a:t>
            </a:r>
          </a:p>
        </p:txBody>
      </p:sp>
      <p:sp>
        <p:nvSpPr>
          <p:cNvPr id="8" name="Rounded Rectangle 7"/>
          <p:cNvSpPr/>
          <p:nvPr/>
        </p:nvSpPr>
        <p:spPr>
          <a:xfrm>
            <a:off x="640080" y="2286000"/>
            <a:ext cx="5486400" cy="2971800"/>
          </a:xfrm>
          <a:prstGeom prst="round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468880"/>
            <a:ext cx="5120640" cy="731520"/>
          </a:xfrm>
          <a:prstGeom prst="rect">
            <a:avLst/>
          </a:prstGeom>
          <a:solidFill>
            <a:srgbClr val="DDA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42616"/>
            <a:ext cx="4754880" cy="457200"/>
          </a:xfrm>
          <a:prstGeom prst="rect">
            <a:avLst/>
          </a:prstGeom>
          <a:noFill/>
        </p:spPr>
        <p:txBody>
          <a:bodyPr wrap="none" lIns="0" rIns="0" tIns="0" bIns="0">
            <a:spAutoFit/>
          </a:bodyPr>
          <a:lstStyle/>
          <a:p>
            <a:pPr>
              <a:lnSpc>
                <a:spcPts val="2925"/>
              </a:lnSpc>
              <a:spcBef>
                <a:spcPts val="0"/>
              </a:spcBef>
              <a:spcAft>
                <a:spcPts val="0"/>
              </a:spcAft>
              <a:defRPr sz="2500" b="1">
                <a:solidFill>
                  <a:srgbClr val="132E40"/>
                </a:solidFill>
                <a:latin typeface="DejaVu Sans"/>
              </a:defRPr>
            </a:pPr>
            <a:r>
              <a:t>GFS: northern coverage</a:t>
            </a:r>
          </a:p>
        </p:txBody>
      </p:sp>
      <p:sp>
        <p:nvSpPr>
          <p:cNvPr id="11" name="Rectangle 10"/>
          <p:cNvSpPr/>
          <p:nvPr/>
        </p:nvSpPr>
        <p:spPr>
          <a:xfrm>
            <a:off x="822960" y="3246120"/>
            <a:ext cx="5120640" cy="1810512"/>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67328"/>
            <a:ext cx="4754880" cy="640080"/>
          </a:xfrm>
          <a:prstGeom prst="rect">
            <a:avLst/>
          </a:prstGeom>
          <a:noFill/>
        </p:spPr>
        <p:txBody>
          <a:bodyPr wrap="none" lIns="0" rIns="0" tIns="0" bIns="0">
            <a:spAutoFit/>
          </a:bodyPr>
          <a:lstStyle/>
          <a:p>
            <a:pPr>
              <a:lnSpc>
                <a:spcPts val="3042"/>
              </a:lnSpc>
              <a:spcBef>
                <a:spcPts val="0"/>
              </a:spcBef>
              <a:spcAft>
                <a:spcPts val="0"/>
              </a:spcAft>
              <a:defRPr sz="2600" b="1">
                <a:solidFill>
                  <a:srgbClr val="FFFFFF"/>
                </a:solidFill>
                <a:latin typeface="DejaVu Sans"/>
              </a:defRPr>
            </a:pPr>
            <a:r>
              <a:t>HRRR: native coverage</a:t>
            </a:r>
          </a:p>
        </p:txBody>
      </p:sp>
      <p:sp>
        <p:nvSpPr>
          <p:cNvPr id="13" name="TextBox 12"/>
          <p:cNvSpPr txBox="1"/>
          <p:nvPr/>
        </p:nvSpPr>
        <p:spPr>
          <a:xfrm>
            <a:off x="731520" y="5413248"/>
            <a:ext cx="5486400" cy="274320"/>
          </a:xfrm>
          <a:prstGeom prst="rect">
            <a:avLst/>
          </a:prstGeom>
          <a:noFill/>
        </p:spPr>
        <p:txBody>
          <a:bodyPr wrap="none" lIns="0" rIns="0" tIns="0" bIns="0">
            <a:spAutoFit/>
          </a:bodyPr>
          <a:lstStyle/>
          <a:p>
            <a:pPr>
              <a:lnSpc>
                <a:spcPts val="1638"/>
              </a:lnSpc>
              <a:spcBef>
                <a:spcPts val="0"/>
              </a:spcBef>
              <a:spcAft>
                <a:spcPts val="0"/>
              </a:spcAft>
              <a:defRPr sz="1400" b="0">
                <a:solidFill>
                  <a:srgbClr val="526674"/>
                </a:solidFill>
                <a:latin typeface="DejaVu Sans"/>
              </a:defRPr>
            </a:pPr>
            <a:r>
              <a:t>Conceptual footprint—not a geographic map</a:t>
            </a:r>
          </a:p>
        </p:txBody>
      </p:sp>
      <p:sp>
        <p:nvSpPr>
          <p:cNvPr id="14" name="Rounded Rectangle 13"/>
          <p:cNvSpPr/>
          <p:nvPr/>
        </p:nvSpPr>
        <p:spPr>
          <a:xfrm>
            <a:off x="6492240" y="2286000"/>
            <a:ext cx="507492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286000"/>
            <a:ext cx="54864" cy="13716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468880"/>
            <a:ext cx="4709159"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NLDAS-2 available?</a:t>
            </a:r>
          </a:p>
        </p:txBody>
      </p:sp>
      <p:sp>
        <p:nvSpPr>
          <p:cNvPr id="17" name="TextBox 16"/>
          <p:cNvSpPr txBox="1"/>
          <p:nvPr/>
        </p:nvSpPr>
        <p:spPr>
          <a:xfrm>
            <a:off x="6675120" y="2926080"/>
            <a:ext cx="4709159" cy="6217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Use NLDAS-2; no GFS needed.</a:t>
            </a:r>
          </a:p>
        </p:txBody>
      </p:sp>
      <p:sp>
        <p:nvSpPr>
          <p:cNvPr id="18" name="Rounded Rectangle 17"/>
          <p:cNvSpPr/>
          <p:nvPr/>
        </p:nvSpPr>
        <p:spPr>
          <a:xfrm>
            <a:off x="6492240" y="3931920"/>
            <a:ext cx="507492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3931920"/>
            <a:ext cx="54864" cy="137160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114800"/>
            <a:ext cx="4709159"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Otherwise: HRRR + GFS</a:t>
            </a:r>
          </a:p>
        </p:txBody>
      </p:sp>
      <p:sp>
        <p:nvSpPr>
          <p:cNvPr id="21" name="TextBox 20"/>
          <p:cNvSpPr txBox="1"/>
          <p:nvPr/>
        </p:nvSpPr>
        <p:spPr>
          <a:xfrm>
            <a:off x="6675120" y="4572000"/>
            <a:ext cx="4709159" cy="6217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Missing required GFS → preserve old file.</a:t>
            </a:r>
          </a:p>
        </p:txBody>
      </p:sp>
      <p:sp>
        <p:nvSpPr>
          <p:cNvPr id="22" name="Rounded Rectangle 21"/>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Keep active NWM cells covered; avoid unnecessary offshore extrapolation.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NRT and Retro answer different questions</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Keep both: timeliness can be evaluated against the later stable product.</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12</a:t>
            </a:r>
          </a:p>
        </p:txBody>
      </p:sp>
      <p:sp>
        <p:nvSpPr>
          <p:cNvPr id="8" name="Rounded Rectangle 7"/>
          <p:cNvSpPr/>
          <p:nvPr/>
        </p:nvSpPr>
        <p:spPr>
          <a:xfrm>
            <a:off x="457200" y="2057400"/>
            <a:ext cx="548640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57400"/>
            <a:ext cx="54864" cy="342900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4028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NRT</a:t>
            </a:r>
          </a:p>
        </p:txBody>
      </p:sp>
      <p:sp>
        <p:nvSpPr>
          <p:cNvPr id="11" name="TextBox 10"/>
          <p:cNvSpPr txBox="1"/>
          <p:nvPr/>
        </p:nvSpPr>
        <p:spPr>
          <a:xfrm>
            <a:off x="640080" y="2971800"/>
            <a:ext cx="5120640" cy="24048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What could operations know?</a:t>
            </a:r>
          </a:p>
          <a:p>
            <a:pPr>
              <a:lnSpc>
                <a:spcPts val="2340"/>
              </a:lnSpc>
              <a:spcBef>
                <a:spcPts val="0"/>
              </a:spcBef>
              <a:spcAft>
                <a:spcPts val="0"/>
              </a:spcAft>
              <a:defRPr sz="2000" b="0">
                <a:solidFill>
                  <a:srgbClr val="183445"/>
                </a:solidFill>
                <a:latin typeface="DejaVu Sans"/>
              </a:defRPr>
            </a:pPr>
          </a:p>
          <a:p>
            <a:pPr>
              <a:lnSpc>
                <a:spcPts val="2340"/>
              </a:lnSpc>
              <a:spcBef>
                <a:spcPts val="0"/>
              </a:spcBef>
              <a:spcAft>
                <a:spcPts val="0"/>
              </a:spcAft>
              <a:defRPr sz="2000" b="0">
                <a:solidFill>
                  <a:srgbClr val="183445"/>
                </a:solidFill>
                <a:latin typeface="DejaVu Sans"/>
              </a:defRPr>
            </a:pPr>
            <a:r>
              <a:t>Recent, revisable sources</a:t>
            </a:r>
          </a:p>
          <a:p>
            <a:pPr>
              <a:lnSpc>
                <a:spcPts val="2340"/>
              </a:lnSpc>
              <a:spcBef>
                <a:spcPts val="0"/>
              </a:spcBef>
              <a:spcAft>
                <a:spcPts val="0"/>
              </a:spcAft>
              <a:defRPr sz="2000" b="0">
                <a:solidFill>
                  <a:srgbClr val="183445"/>
                </a:solidFill>
                <a:latin typeface="DejaVu Sans"/>
              </a:defRPr>
            </a:pPr>
            <a:r>
              <a:t>Early PRISM when eligible</a:t>
            </a:r>
          </a:p>
          <a:p>
            <a:pPr>
              <a:lnSpc>
                <a:spcPts val="2340"/>
              </a:lnSpc>
              <a:spcBef>
                <a:spcPts val="0"/>
              </a:spcBef>
              <a:spcAft>
                <a:spcPts val="0"/>
              </a:spcAft>
              <a:defRPr sz="2000" b="0">
                <a:solidFill>
                  <a:srgbClr val="183445"/>
                </a:solidFill>
                <a:latin typeface="DejaVu Sans"/>
              </a:defRPr>
            </a:pPr>
            <a:r>
              <a:t>NLDAS replacement as it arrives</a:t>
            </a:r>
          </a:p>
        </p:txBody>
      </p:sp>
      <p:sp>
        <p:nvSpPr>
          <p:cNvPr id="12" name="Rounded Rectangle 11"/>
          <p:cNvSpPr/>
          <p:nvPr/>
        </p:nvSpPr>
        <p:spPr>
          <a:xfrm>
            <a:off x="6217920" y="2057400"/>
            <a:ext cx="548640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057400"/>
            <a:ext cx="54864" cy="3429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24028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Retro</a:t>
            </a:r>
          </a:p>
        </p:txBody>
      </p:sp>
      <p:sp>
        <p:nvSpPr>
          <p:cNvPr id="15" name="TextBox 14"/>
          <p:cNvSpPr txBox="1"/>
          <p:nvPr/>
        </p:nvSpPr>
        <p:spPr>
          <a:xfrm>
            <a:off x="6400800" y="2971800"/>
            <a:ext cx="5120640" cy="24048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What is our stable reconstruction?</a:t>
            </a:r>
          </a:p>
          <a:p>
            <a:pPr>
              <a:lnSpc>
                <a:spcPts val="2340"/>
              </a:lnSpc>
              <a:spcBef>
                <a:spcPts val="0"/>
              </a:spcBef>
              <a:spcAft>
                <a:spcPts val="0"/>
              </a:spcAft>
              <a:defRPr sz="2000" b="0">
                <a:solidFill>
                  <a:srgbClr val="183445"/>
                </a:solidFill>
                <a:latin typeface="DejaVu Sans"/>
              </a:defRPr>
            </a:pPr>
          </a:p>
          <a:p>
            <a:pPr>
              <a:lnSpc>
                <a:spcPts val="2340"/>
              </a:lnSpc>
              <a:spcBef>
                <a:spcPts val="0"/>
              </a:spcBef>
              <a:spcAft>
                <a:spcPts val="0"/>
              </a:spcAft>
              <a:defRPr sz="2000" b="0">
                <a:solidFill>
                  <a:srgbClr val="183445"/>
                </a:solidFill>
                <a:latin typeface="DejaVu Sans"/>
              </a:defRPr>
            </a:pPr>
            <a:r>
              <a:t>NLDAS-2 backbone</a:t>
            </a:r>
          </a:p>
          <a:p>
            <a:pPr>
              <a:lnSpc>
                <a:spcPts val="2340"/>
              </a:lnSpc>
              <a:spcBef>
                <a:spcPts val="0"/>
              </a:spcBef>
              <a:spcAft>
                <a:spcPts val="0"/>
              </a:spcAft>
              <a:defRPr sz="2000" b="0">
                <a:solidFill>
                  <a:srgbClr val="183445"/>
                </a:solidFill>
                <a:latin typeface="DejaVu Sans"/>
              </a:defRPr>
            </a:pPr>
            <a:r>
              <a:t>Best eligible precipitation</a:t>
            </a:r>
          </a:p>
          <a:p>
            <a:pPr>
              <a:lnSpc>
                <a:spcPts val="2340"/>
              </a:lnSpc>
              <a:spcBef>
                <a:spcPts val="0"/>
              </a:spcBef>
              <a:spcAft>
                <a:spcPts val="0"/>
              </a:spcAft>
              <a:defRPr sz="2000" b="0">
                <a:solidFill>
                  <a:srgbClr val="183445"/>
                </a:solidFill>
                <a:latin typeface="DejaVu Sans"/>
              </a:defRPr>
            </a:pPr>
            <a:r>
              <a:t>Stable PRISM constraints</a:t>
            </a:r>
          </a:p>
        </p:txBody>
      </p:sp>
      <p:sp>
        <p:nvSpPr>
          <p:cNvPr id="16" name="Rounded Rectangle 15"/>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Retro does not overwrite NRT. Record the version used in each simulation.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NRT: refresh → replace only what changed</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Dependency fingerprints let unchanged baselines and windows be reused.</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13</a:t>
            </a:r>
          </a:p>
        </p:txBody>
      </p:sp>
      <p:sp>
        <p:nvSpPr>
          <p:cNvPr id="8" name="Rounded Rectangle 7"/>
          <p:cNvSpPr/>
          <p:nvPr/>
        </p:nvSpPr>
        <p:spPr>
          <a:xfrm>
            <a:off x="457200" y="2194560"/>
            <a:ext cx="352044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94560"/>
            <a:ext cx="54864" cy="256032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7744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Refresh inputs</a:t>
            </a:r>
          </a:p>
        </p:txBody>
      </p:sp>
      <p:sp>
        <p:nvSpPr>
          <p:cNvPr id="11" name="TextBox 10"/>
          <p:cNvSpPr txBox="1"/>
          <p:nvPr/>
        </p:nvSpPr>
        <p:spPr>
          <a:xfrm>
            <a:off x="640080" y="3108960"/>
            <a:ext cx="3154680" cy="1536191"/>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Check completeness</a:t>
            </a:r>
          </a:p>
          <a:p>
            <a:pPr>
              <a:lnSpc>
                <a:spcPts val="2340"/>
              </a:lnSpc>
              <a:spcBef>
                <a:spcPts val="0"/>
              </a:spcBef>
              <a:spcAft>
                <a:spcPts val="0"/>
              </a:spcAft>
              <a:defRPr sz="2000" b="0">
                <a:solidFill>
                  <a:srgbClr val="183445"/>
                </a:solidFill>
                <a:latin typeface="DejaVu Sans"/>
              </a:defRPr>
            </a:pPr>
            <a:r>
              <a:t>and source revisions</a:t>
            </a:r>
          </a:p>
        </p:txBody>
      </p:sp>
      <p:sp>
        <p:nvSpPr>
          <p:cNvPr id="12" name="Right Arrow 11"/>
          <p:cNvSpPr/>
          <p:nvPr/>
        </p:nvSpPr>
        <p:spPr>
          <a:xfrm>
            <a:off x="4041648" y="315468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80" y="2194560"/>
            <a:ext cx="352044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194560"/>
            <a:ext cx="54864" cy="256032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37744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Resolve changes</a:t>
            </a:r>
          </a:p>
        </p:txBody>
      </p:sp>
      <p:sp>
        <p:nvSpPr>
          <p:cNvPr id="16" name="TextBox 15"/>
          <p:cNvSpPr txBox="1"/>
          <p:nvPr/>
        </p:nvSpPr>
        <p:spPr>
          <a:xfrm>
            <a:off x="4480560" y="3108960"/>
            <a:ext cx="3154680" cy="1536191"/>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NLDAS arrival?</a:t>
            </a:r>
          </a:p>
          <a:p>
            <a:pPr>
              <a:lnSpc>
                <a:spcPts val="2340"/>
              </a:lnSpc>
              <a:spcBef>
                <a:spcPts val="0"/>
              </a:spcBef>
              <a:spcAft>
                <a:spcPts val="0"/>
              </a:spcAft>
              <a:defRPr sz="2000" b="0">
                <a:solidFill>
                  <a:srgbClr val="183445"/>
                </a:solidFill>
                <a:latin typeface="DejaVu Sans"/>
              </a:defRPr>
            </a:pPr>
            <a:r>
              <a:t>PRISM revision?</a:t>
            </a:r>
          </a:p>
        </p:txBody>
      </p:sp>
      <p:sp>
        <p:nvSpPr>
          <p:cNvPr id="17" name="Right Arrow 16"/>
          <p:cNvSpPr/>
          <p:nvPr/>
        </p:nvSpPr>
        <p:spPr>
          <a:xfrm>
            <a:off x="7882128" y="3154680"/>
            <a:ext cx="201168"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2194560"/>
            <a:ext cx="352044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2194560"/>
            <a:ext cx="54864" cy="2560320"/>
          </a:xfrm>
          <a:prstGeom prst="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37744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3975B7"/>
                </a:solidFill>
                <a:latin typeface="DejaVu Sans"/>
              </a:defRPr>
            </a:pPr>
            <a:r>
              <a:t>Rebuild + audit</a:t>
            </a:r>
          </a:p>
        </p:txBody>
      </p:sp>
      <p:sp>
        <p:nvSpPr>
          <p:cNvPr id="21" name="TextBox 20"/>
          <p:cNvSpPr txBox="1"/>
          <p:nvPr/>
        </p:nvSpPr>
        <p:spPr>
          <a:xfrm>
            <a:off x="8321040" y="3108960"/>
            <a:ext cx="3154680" cy="1536191"/>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Reuse valid work</a:t>
            </a:r>
          </a:p>
          <a:p>
            <a:pPr>
              <a:lnSpc>
                <a:spcPts val="2340"/>
              </a:lnSpc>
              <a:spcBef>
                <a:spcPts val="0"/>
              </a:spcBef>
              <a:spcAft>
                <a:spcPts val="0"/>
              </a:spcAft>
              <a:defRPr sz="2000" b="0">
                <a:solidFill>
                  <a:srgbClr val="183445"/>
                </a:solidFill>
                <a:latin typeface="DejaVu Sans"/>
              </a:defRPr>
            </a:pPr>
            <a:r>
              <a:t>Replace atomically</a:t>
            </a:r>
          </a:p>
        </p:txBody>
      </p:sp>
      <p:sp>
        <p:nvSpPr>
          <p:cNvPr id="22" name="TextBox 21"/>
          <p:cNvSpPr txBox="1"/>
          <p:nvPr/>
        </p:nvSpPr>
        <p:spPr>
          <a:xfrm>
            <a:off x="640080" y="5074920"/>
            <a:ext cx="10789920" cy="457200"/>
          </a:xfrm>
          <a:prstGeom prst="rect">
            <a:avLst/>
          </a:prstGeom>
          <a:noFill/>
        </p:spPr>
        <p:txBody>
          <a:bodyPr wrap="none" lIns="0" rIns="0" tIns="0" bIns="0">
            <a:spAutoFit/>
          </a:bodyPr>
          <a:lstStyle/>
          <a:p>
            <a:pPr>
              <a:lnSpc>
                <a:spcPts val="2457"/>
              </a:lnSpc>
              <a:spcBef>
                <a:spcPts val="0"/>
              </a:spcBef>
              <a:spcAft>
                <a:spcPts val="0"/>
              </a:spcAft>
              <a:defRPr sz="2100" b="1">
                <a:solidFill>
                  <a:srgbClr val="183445"/>
                </a:solidFill>
                <a:latin typeface="DejaVu Sans"/>
              </a:defRPr>
            </a:pPr>
            <a:r>
              <a:t>Required GFS acquisition is part of the recent-hour production path.</a:t>
            </a:r>
          </a:p>
        </p:txBody>
      </p:sp>
      <p:sp>
        <p:nvSpPr>
          <p:cNvPr id="23" name="Rounded Rectangle 22"/>
          <p:cNvSpPr/>
          <p:nvPr/>
        </p:nvSpPr>
        <p:spPr>
          <a:xfrm>
            <a:off x="457200" y="5696712"/>
            <a:ext cx="11247120" cy="566928"/>
          </a:xfrm>
          <a:prstGeom prst="round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A failed update must not replace accepted data with incomplete output.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Scheduled opportunities ≠ current-hour delivery</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Repository schedule template • not yet installed on the inspected host</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14</a:t>
            </a:r>
          </a:p>
        </p:txBody>
      </p:sp>
      <p:sp>
        <p:nvSpPr>
          <p:cNvPr id="8" name="Rectangle 7"/>
          <p:cNvSpPr/>
          <p:nvPr/>
        </p:nvSpPr>
        <p:spPr>
          <a:xfrm>
            <a:off x="457200" y="1965960"/>
            <a:ext cx="237744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75688"/>
            <a:ext cx="215798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Lane</a:t>
            </a:r>
          </a:p>
        </p:txBody>
      </p:sp>
      <p:sp>
        <p:nvSpPr>
          <p:cNvPr id="10" name="Rectangle 9"/>
          <p:cNvSpPr/>
          <p:nvPr/>
        </p:nvSpPr>
        <p:spPr>
          <a:xfrm>
            <a:off x="2834640" y="1965960"/>
            <a:ext cx="274320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2075688"/>
            <a:ext cx="252374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UTC schedule</a:t>
            </a:r>
          </a:p>
        </p:txBody>
      </p:sp>
      <p:sp>
        <p:nvSpPr>
          <p:cNvPr id="12" name="Rectangle 11"/>
          <p:cNvSpPr/>
          <p:nvPr/>
        </p:nvSpPr>
        <p:spPr>
          <a:xfrm>
            <a:off x="5577840" y="1965960"/>
            <a:ext cx="6126480" cy="502920"/>
          </a:xfrm>
          <a:prstGeom prst="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87568" y="2075688"/>
            <a:ext cx="5907024" cy="274320"/>
          </a:xfrm>
          <a:prstGeom prst="rect">
            <a:avLst/>
          </a:prstGeom>
          <a:noFill/>
        </p:spPr>
        <p:txBody>
          <a:bodyPr wrap="none" lIns="0" rIns="0" tIns="0" bIns="0">
            <a:spAutoFit/>
          </a:bodyPr>
          <a:lstStyle/>
          <a:p>
            <a:pPr>
              <a:lnSpc>
                <a:spcPts val="1872"/>
              </a:lnSpc>
              <a:spcBef>
                <a:spcPts val="0"/>
              </a:spcBef>
              <a:spcAft>
                <a:spcPts val="0"/>
              </a:spcAft>
              <a:defRPr sz="1600" b="1">
                <a:solidFill>
                  <a:srgbClr val="FFFFFF"/>
                </a:solidFill>
                <a:latin typeface="DejaVu Sans"/>
              </a:defRPr>
            </a:pPr>
            <a:r>
              <a:t>Current scan / behavior</a:t>
            </a:r>
          </a:p>
        </p:txBody>
      </p:sp>
      <p:sp>
        <p:nvSpPr>
          <p:cNvPr id="14" name="Rectangle 13"/>
          <p:cNvSpPr/>
          <p:nvPr/>
        </p:nvSpPr>
        <p:spPr>
          <a:xfrm>
            <a:off x="457200" y="2468880"/>
            <a:ext cx="23774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642615"/>
            <a:ext cx="2157984" cy="68580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NRT</a:t>
            </a:r>
          </a:p>
        </p:txBody>
      </p:sp>
      <p:sp>
        <p:nvSpPr>
          <p:cNvPr id="16" name="Rectangle 15"/>
          <p:cNvSpPr/>
          <p:nvPr/>
        </p:nvSpPr>
        <p:spPr>
          <a:xfrm>
            <a:off x="2834640" y="2468880"/>
            <a:ext cx="27432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44368" y="2642615"/>
            <a:ext cx="2523744" cy="68580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02 / 14 / 20</a:t>
            </a:r>
          </a:p>
        </p:txBody>
      </p:sp>
      <p:sp>
        <p:nvSpPr>
          <p:cNvPr id="18" name="Rectangle 17"/>
          <p:cNvSpPr/>
          <p:nvPr/>
        </p:nvSpPr>
        <p:spPr>
          <a:xfrm>
            <a:off x="5577840" y="2468880"/>
            <a:ext cx="6126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87568" y="2642615"/>
            <a:ext cx="5907024" cy="68580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10 target days; skip unchanged</a:t>
            </a:r>
          </a:p>
        </p:txBody>
      </p:sp>
      <p:sp>
        <p:nvSpPr>
          <p:cNvPr id="20" name="Rectangle 19"/>
          <p:cNvSpPr/>
          <p:nvPr/>
        </p:nvSpPr>
        <p:spPr>
          <a:xfrm>
            <a:off x="457200" y="3337560"/>
            <a:ext cx="2377440" cy="86868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511296"/>
            <a:ext cx="2157984" cy="68580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Daily NRT</a:t>
            </a:r>
          </a:p>
        </p:txBody>
      </p:sp>
      <p:sp>
        <p:nvSpPr>
          <p:cNvPr id="22" name="Rectangle 21"/>
          <p:cNvSpPr/>
          <p:nvPr/>
        </p:nvSpPr>
        <p:spPr>
          <a:xfrm>
            <a:off x="2834640" y="3337560"/>
            <a:ext cx="2743200" cy="86868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44368" y="3511296"/>
            <a:ext cx="2523744" cy="68580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08 each day</a:t>
            </a:r>
          </a:p>
        </p:txBody>
      </p:sp>
      <p:sp>
        <p:nvSpPr>
          <p:cNvPr id="24" name="Rectangle 23"/>
          <p:cNvSpPr/>
          <p:nvPr/>
        </p:nvSpPr>
        <p:spPr>
          <a:xfrm>
            <a:off x="5577840" y="3337560"/>
            <a:ext cx="6126480" cy="868680"/>
          </a:xfrm>
          <a:prstGeom prst="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87568" y="3511296"/>
            <a:ext cx="5907024" cy="68580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200-day deeper revision check</a:t>
            </a:r>
          </a:p>
        </p:txBody>
      </p:sp>
      <p:sp>
        <p:nvSpPr>
          <p:cNvPr id="26" name="Rectangle 25"/>
          <p:cNvSpPr/>
          <p:nvPr/>
        </p:nvSpPr>
        <p:spPr>
          <a:xfrm>
            <a:off x="457200" y="4206240"/>
            <a:ext cx="23774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79975"/>
            <a:ext cx="2157984" cy="685800"/>
          </a:xfrm>
          <a:prstGeom prst="rect">
            <a:avLst/>
          </a:prstGeom>
          <a:noFill/>
        </p:spPr>
        <p:txBody>
          <a:bodyPr wrap="none" lIns="0" rIns="0" tIns="0" bIns="0">
            <a:spAutoFit/>
          </a:bodyPr>
          <a:lstStyle/>
          <a:p>
            <a:pPr>
              <a:lnSpc>
                <a:spcPts val="2222"/>
              </a:lnSpc>
              <a:spcBef>
                <a:spcPts val="0"/>
              </a:spcBef>
              <a:spcAft>
                <a:spcPts val="0"/>
              </a:spcAft>
              <a:defRPr sz="1900" b="1">
                <a:solidFill>
                  <a:srgbClr val="087F8C"/>
                </a:solidFill>
                <a:latin typeface="DejaVu Sans"/>
              </a:defRPr>
            </a:pPr>
            <a:r>
              <a:t>Retro</a:t>
            </a:r>
          </a:p>
        </p:txBody>
      </p:sp>
      <p:sp>
        <p:nvSpPr>
          <p:cNvPr id="28" name="Rectangle 27"/>
          <p:cNvSpPr/>
          <p:nvPr/>
        </p:nvSpPr>
        <p:spPr>
          <a:xfrm>
            <a:off x="2834640" y="4206240"/>
            <a:ext cx="27432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44368" y="4379975"/>
            <a:ext cx="2523744" cy="68580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10 on the 18th</a:t>
            </a:r>
          </a:p>
        </p:txBody>
      </p:sp>
      <p:sp>
        <p:nvSpPr>
          <p:cNvPr id="30" name="Rectangle 29"/>
          <p:cNvSpPr/>
          <p:nvPr/>
        </p:nvSpPr>
        <p:spPr>
          <a:xfrm>
            <a:off x="5577840" y="4206240"/>
            <a:ext cx="6126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87568" y="4379975"/>
            <a:ext cx="5907024" cy="685800"/>
          </a:xfrm>
          <a:prstGeom prst="rect">
            <a:avLst/>
          </a:prstGeom>
          <a:noFill/>
        </p:spPr>
        <p:txBody>
          <a:bodyPr wrap="none" lIns="0" rIns="0" tIns="0" bIns="0">
            <a:spAutoFit/>
          </a:bodyPr>
          <a:lstStyle/>
          <a:p>
            <a:pPr>
              <a:lnSpc>
                <a:spcPts val="2222"/>
              </a:lnSpc>
              <a:spcBef>
                <a:spcPts val="0"/>
              </a:spcBef>
              <a:spcAft>
                <a:spcPts val="0"/>
              </a:spcAft>
              <a:defRPr sz="1900" b="0">
                <a:solidFill>
                  <a:srgbClr val="183445"/>
                </a:solidFill>
                <a:latin typeface="DejaVu Sans"/>
              </a:defRPr>
            </a:pPr>
            <a:r>
              <a:t>45-day eligibility window; stable only</a:t>
            </a:r>
          </a:p>
        </p:txBody>
      </p:sp>
      <p:sp>
        <p:nvSpPr>
          <p:cNvPr id="32" name="TextBox 31"/>
          <p:cNvSpPr txBox="1"/>
          <p:nvPr/>
        </p:nvSpPr>
        <p:spPr>
          <a:xfrm>
            <a:off x="640080" y="5413248"/>
            <a:ext cx="10881360" cy="502920"/>
          </a:xfrm>
          <a:prstGeom prst="rect">
            <a:avLst/>
          </a:prstGeom>
          <a:noFill/>
        </p:spPr>
        <p:txBody>
          <a:bodyPr wrap="none" lIns="0" rIns="0" tIns="0" bIns="0">
            <a:spAutoFit/>
          </a:bodyPr>
          <a:lstStyle/>
          <a:p>
            <a:pPr>
              <a:lnSpc>
                <a:spcPts val="2340"/>
              </a:lnSpc>
              <a:spcBef>
                <a:spcPts val="0"/>
              </a:spcBef>
              <a:spcAft>
                <a:spcPts val="0"/>
              </a:spcAft>
              <a:defRPr sz="2000" b="1">
                <a:solidFill>
                  <a:srgbClr val="B95140"/>
                </a:solidFill>
                <a:latin typeface="DejaVu Sans"/>
              </a:defRPr>
            </a:pPr>
            <a:r>
              <a:t>NRT endpoint: UTC today − 2 days. No partial-current-day delivery.</a:t>
            </a:r>
          </a:p>
        </p:txBody>
      </p:sp>
      <p:sp>
        <p:nvSpPr>
          <p:cNvPr id="33" name="TextBox 32"/>
          <p:cNvSpPr txBox="1"/>
          <p:nvPr/>
        </p:nvSpPr>
        <p:spPr>
          <a:xfrm>
            <a:off x="640080" y="6016752"/>
            <a:ext cx="10881360" cy="274320"/>
          </a:xfrm>
          <a:prstGeom prst="rect">
            <a:avLst/>
          </a:prstGeom>
          <a:noFill/>
        </p:spPr>
        <p:txBody>
          <a:bodyPr wrap="none" lIns="0" rIns="0" tIns="0" bIns="0">
            <a:spAutoFit/>
          </a:bodyPr>
          <a:lstStyle/>
          <a:p>
            <a:pPr>
              <a:lnSpc>
                <a:spcPts val="1754"/>
              </a:lnSpc>
              <a:spcBef>
                <a:spcPts val="0"/>
              </a:spcBef>
              <a:spcAft>
                <a:spcPts val="0"/>
              </a:spcAft>
              <a:defRPr sz="1500" b="0">
                <a:solidFill>
                  <a:srgbClr val="526674"/>
                </a:solidFill>
                <a:latin typeface="DejaVu Sans"/>
              </a:defRPr>
            </a:pPr>
            <a:r>
              <a:t>Status report template: every 2 hours • 7-day recent GFS-aware processing tail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Retro: stable constraints, reproducible history</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Source availability changes across eras; the common product contract does not.</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15</a:t>
            </a:r>
          </a:p>
        </p:txBody>
      </p:sp>
      <p:sp>
        <p:nvSpPr>
          <p:cNvPr id="8" name="Rounded Rectangle 7"/>
          <p:cNvSpPr/>
          <p:nvPr/>
        </p:nvSpPr>
        <p:spPr>
          <a:xfrm>
            <a:off x="457200" y="2377440"/>
            <a:ext cx="256032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77440"/>
            <a:ext cx="54864" cy="2377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1979–1980</a:t>
            </a:r>
          </a:p>
        </p:txBody>
      </p:sp>
      <p:sp>
        <p:nvSpPr>
          <p:cNvPr id="11" name="TextBox 10"/>
          <p:cNvSpPr txBox="1"/>
          <p:nvPr/>
        </p:nvSpPr>
        <p:spPr>
          <a:xfrm>
            <a:off x="640080" y="3291840"/>
            <a:ext cx="2194560" cy="13533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NLDAS-2</a:t>
            </a:r>
          </a:p>
          <a:p>
            <a:pPr>
              <a:lnSpc>
                <a:spcPts val="2340"/>
              </a:lnSpc>
              <a:spcBef>
                <a:spcPts val="0"/>
              </a:spcBef>
              <a:spcAft>
                <a:spcPts val="0"/>
              </a:spcAft>
              <a:defRPr sz="2000" b="0">
                <a:solidFill>
                  <a:srgbClr val="183445"/>
                </a:solidFill>
                <a:latin typeface="DejaVu Sans"/>
              </a:defRPr>
            </a:pPr>
            <a:r>
              <a:t>Monthly PRISM</a:t>
            </a:r>
          </a:p>
        </p:txBody>
      </p:sp>
      <p:sp>
        <p:nvSpPr>
          <p:cNvPr id="12" name="Right Arrow 11"/>
          <p:cNvSpPr/>
          <p:nvPr/>
        </p:nvSpPr>
        <p:spPr>
          <a:xfrm>
            <a:off x="3081528" y="329184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2377440"/>
            <a:ext cx="256032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2377440"/>
            <a:ext cx="54864" cy="2377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1981–2001</a:t>
            </a:r>
          </a:p>
        </p:txBody>
      </p:sp>
      <p:sp>
        <p:nvSpPr>
          <p:cNvPr id="16" name="TextBox 15"/>
          <p:cNvSpPr txBox="1"/>
          <p:nvPr/>
        </p:nvSpPr>
        <p:spPr>
          <a:xfrm>
            <a:off x="3520440" y="3291840"/>
            <a:ext cx="2194560" cy="13533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NLDAS-2</a:t>
            </a:r>
          </a:p>
          <a:p>
            <a:pPr>
              <a:lnSpc>
                <a:spcPts val="2340"/>
              </a:lnSpc>
              <a:spcBef>
                <a:spcPts val="0"/>
              </a:spcBef>
              <a:spcAft>
                <a:spcPts val="0"/>
              </a:spcAft>
              <a:defRPr sz="2000" b="0">
                <a:solidFill>
                  <a:srgbClr val="183445"/>
                </a:solidFill>
                <a:latin typeface="DejaVu Sans"/>
              </a:defRPr>
            </a:pPr>
            <a:r>
              <a:t>Daily PRISM</a:t>
            </a:r>
          </a:p>
        </p:txBody>
      </p:sp>
      <p:sp>
        <p:nvSpPr>
          <p:cNvPr id="17" name="Right Arrow 16"/>
          <p:cNvSpPr/>
          <p:nvPr/>
        </p:nvSpPr>
        <p:spPr>
          <a:xfrm>
            <a:off x="5961888" y="329184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2377440"/>
            <a:ext cx="256032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377440"/>
            <a:ext cx="54864" cy="2377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2002 onward</a:t>
            </a:r>
          </a:p>
        </p:txBody>
      </p:sp>
      <p:sp>
        <p:nvSpPr>
          <p:cNvPr id="21" name="TextBox 20"/>
          <p:cNvSpPr txBox="1"/>
          <p:nvPr/>
        </p:nvSpPr>
        <p:spPr>
          <a:xfrm>
            <a:off x="6400800" y="3291840"/>
            <a:ext cx="2194560" cy="13533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Add Stage-IV</a:t>
            </a:r>
          </a:p>
          <a:p>
            <a:pPr>
              <a:lnSpc>
                <a:spcPts val="2340"/>
              </a:lnSpc>
              <a:spcBef>
                <a:spcPts val="0"/>
              </a:spcBef>
              <a:spcAft>
                <a:spcPts val="0"/>
              </a:spcAft>
              <a:defRPr sz="2000" b="0">
                <a:solidFill>
                  <a:srgbClr val="183445"/>
                </a:solidFill>
                <a:latin typeface="DejaVu Sans"/>
              </a:defRPr>
            </a:pPr>
            <a:r>
              <a:t>Daily PRISM</a:t>
            </a:r>
          </a:p>
        </p:txBody>
      </p:sp>
      <p:sp>
        <p:nvSpPr>
          <p:cNvPr id="22" name="Right Arrow 21"/>
          <p:cNvSpPr/>
          <p:nvPr/>
        </p:nvSpPr>
        <p:spPr>
          <a:xfrm>
            <a:off x="8842248" y="3291840"/>
            <a:ext cx="228600" cy="228600"/>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2377440"/>
            <a:ext cx="2560320" cy="2377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98280" y="2377440"/>
            <a:ext cx="54864" cy="2377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59" y="2560320"/>
            <a:ext cx="219456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Modern era</a:t>
            </a:r>
          </a:p>
        </p:txBody>
      </p:sp>
      <p:sp>
        <p:nvSpPr>
          <p:cNvPr id="26" name="TextBox 25"/>
          <p:cNvSpPr txBox="1"/>
          <p:nvPr/>
        </p:nvSpPr>
        <p:spPr>
          <a:xfrm>
            <a:off x="9281159" y="3291840"/>
            <a:ext cx="2194560" cy="13533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Add MRMS /</a:t>
            </a:r>
          </a:p>
          <a:p>
            <a:pPr>
              <a:lnSpc>
                <a:spcPts val="2340"/>
              </a:lnSpc>
              <a:spcBef>
                <a:spcPts val="0"/>
              </a:spcBef>
              <a:spcAft>
                <a:spcPts val="0"/>
              </a:spcAft>
              <a:defRPr sz="2000" b="0">
                <a:solidFill>
                  <a:srgbClr val="183445"/>
                </a:solidFill>
                <a:latin typeface="DejaVu Sans"/>
              </a:defRPr>
            </a:pPr>
            <a:r>
              <a:t>HRRR</a:t>
            </a:r>
          </a:p>
          <a:p>
            <a:pPr>
              <a:lnSpc>
                <a:spcPts val="2340"/>
              </a:lnSpc>
              <a:spcBef>
                <a:spcPts val="0"/>
              </a:spcBef>
              <a:spcAft>
                <a:spcPts val="0"/>
              </a:spcAft>
              <a:defRPr sz="2000" b="0">
                <a:solidFill>
                  <a:srgbClr val="183445"/>
                </a:solidFill>
                <a:latin typeface="DejaVu Sans"/>
              </a:defRPr>
            </a:pPr>
            <a:r>
              <a:t>where eligible</a:t>
            </a:r>
          </a:p>
        </p:txBody>
      </p:sp>
      <p:sp>
        <p:nvSpPr>
          <p:cNvPr id="27" name="TextBox 26"/>
          <p:cNvSpPr txBox="1"/>
          <p:nvPr/>
        </p:nvSpPr>
        <p:spPr>
          <a:xfrm>
            <a:off x="640080" y="5074920"/>
            <a:ext cx="10881360" cy="475488"/>
          </a:xfrm>
          <a:prstGeom prst="rect">
            <a:avLst/>
          </a:prstGeom>
          <a:noFill/>
        </p:spPr>
        <p:txBody>
          <a:bodyPr wrap="none" lIns="0" rIns="0" tIns="0" bIns="0">
            <a:spAutoFit/>
          </a:bodyPr>
          <a:lstStyle/>
          <a:p>
            <a:pPr>
              <a:lnSpc>
                <a:spcPts val="2574"/>
              </a:lnSpc>
              <a:spcBef>
                <a:spcPts val="0"/>
              </a:spcBef>
              <a:spcAft>
                <a:spcPts val="0"/>
              </a:spcAft>
              <a:defRPr sz="2200" b="1">
                <a:solidFill>
                  <a:srgbClr val="183445"/>
                </a:solidFill>
                <a:latin typeface="DejaVu Sans"/>
              </a:defRPr>
            </a:pPr>
            <a:r>
              <a:t>Stable PRISM → final audit → safe baseline cleanup</a:t>
            </a:r>
          </a:p>
        </p:txBody>
      </p:sp>
      <p:sp>
        <p:nvSpPr>
          <p:cNvPr id="28" name="Rounded Rectangle 27"/>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Coverage is still being built. Check the inventory—not just the intended era.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One daily file; two clocks to understand</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Storage dates and physical accumulation intervals are intentionally separate.</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16</a:t>
            </a:r>
          </a:p>
        </p:txBody>
      </p:sp>
      <p:sp>
        <p:nvSpPr>
          <p:cNvPr id="8" name="TextBox 7"/>
          <p:cNvSpPr txBox="1"/>
          <p:nvPr/>
        </p:nvSpPr>
        <p:spPr>
          <a:xfrm>
            <a:off x="640080" y="2148840"/>
            <a:ext cx="2834640" cy="457200"/>
          </a:xfrm>
          <a:prstGeom prst="rect">
            <a:avLst/>
          </a:prstGeom>
          <a:noFill/>
        </p:spPr>
        <p:txBody>
          <a:bodyPr wrap="none" lIns="0" rIns="0" tIns="0" bIns="0">
            <a:spAutoFit/>
          </a:bodyPr>
          <a:lstStyle/>
          <a:p>
            <a:pPr>
              <a:lnSpc>
                <a:spcPts val="2808"/>
              </a:lnSpc>
              <a:spcBef>
                <a:spcPts val="0"/>
              </a:spcBef>
              <a:spcAft>
                <a:spcPts val="0"/>
              </a:spcAft>
              <a:defRPr sz="2400" b="1">
                <a:solidFill>
                  <a:srgbClr val="087F8C"/>
                </a:solidFill>
                <a:latin typeface="DejaVu Sans"/>
              </a:defRPr>
            </a:pPr>
            <a:r>
              <a:t>Files on disk</a:t>
            </a:r>
          </a:p>
        </p:txBody>
      </p:sp>
      <p:sp>
        <p:nvSpPr>
          <p:cNvPr id="9" name="Rounded Rectangle 8"/>
          <p:cNvSpPr/>
          <p:nvPr/>
        </p:nvSpPr>
        <p:spPr>
          <a:xfrm>
            <a:off x="3657600" y="2075688"/>
            <a:ext cx="4480560" cy="64008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240280"/>
            <a:ext cx="4114800" cy="411480"/>
          </a:xfrm>
          <a:prstGeom prst="rect">
            <a:avLst/>
          </a:prstGeom>
          <a:noFill/>
        </p:spPr>
        <p:txBody>
          <a:bodyPr wrap="none" lIns="0" rIns="0" tIns="0" bIns="0">
            <a:spAutoFit/>
          </a:bodyPr>
          <a:lstStyle/>
          <a:p>
            <a:pPr>
              <a:lnSpc>
                <a:spcPts val="2690"/>
              </a:lnSpc>
              <a:spcBef>
                <a:spcPts val="0"/>
              </a:spcBef>
              <a:spcAft>
                <a:spcPts val="0"/>
              </a:spcAft>
              <a:defRPr sz="2300" b="1">
                <a:solidFill>
                  <a:srgbClr val="FFFFFF"/>
                </a:solidFill>
                <a:latin typeface="DejaVu Sans"/>
              </a:defRPr>
            </a:pPr>
            <a:r>
              <a:t>Day D: 00 … 23 UTC</a:t>
            </a:r>
          </a:p>
        </p:txBody>
      </p:sp>
      <p:sp>
        <p:nvSpPr>
          <p:cNvPr id="11" name="Rounded Rectangle 10"/>
          <p:cNvSpPr/>
          <p:nvPr/>
        </p:nvSpPr>
        <p:spPr>
          <a:xfrm>
            <a:off x="8321040" y="2075688"/>
            <a:ext cx="3200400" cy="640080"/>
          </a:xfrm>
          <a:prstGeom prst="roundRect">
            <a:avLst/>
          </a:prstGeom>
          <a:solidFill>
            <a:srgbClr val="397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2240280"/>
            <a:ext cx="2834640" cy="411480"/>
          </a:xfrm>
          <a:prstGeom prst="rect">
            <a:avLst/>
          </a:prstGeom>
          <a:noFill/>
        </p:spPr>
        <p:txBody>
          <a:bodyPr wrap="none" lIns="0" rIns="0" tIns="0" bIns="0">
            <a:spAutoFit/>
          </a:bodyPr>
          <a:lstStyle/>
          <a:p>
            <a:pPr>
              <a:lnSpc>
                <a:spcPts val="2574"/>
              </a:lnSpc>
              <a:spcBef>
                <a:spcPts val="0"/>
              </a:spcBef>
              <a:spcAft>
                <a:spcPts val="0"/>
              </a:spcAft>
              <a:defRPr sz="2200" b="0">
                <a:solidFill>
                  <a:srgbClr val="FFFFFF"/>
                </a:solidFill>
                <a:latin typeface="DejaVu Sans"/>
              </a:defRPr>
            </a:pPr>
            <a:r>
              <a:t>Day D+1: 00 …</a:t>
            </a:r>
          </a:p>
        </p:txBody>
      </p:sp>
      <p:sp>
        <p:nvSpPr>
          <p:cNvPr id="13" name="TextBox 12"/>
          <p:cNvSpPr txBox="1"/>
          <p:nvPr/>
        </p:nvSpPr>
        <p:spPr>
          <a:xfrm>
            <a:off x="640080" y="3429000"/>
            <a:ext cx="2834640" cy="777240"/>
          </a:xfrm>
          <a:prstGeom prst="rect">
            <a:avLst/>
          </a:prstGeom>
          <a:noFill/>
        </p:spPr>
        <p:txBody>
          <a:bodyPr wrap="none" lIns="0" rIns="0" tIns="0" bIns="0">
            <a:spAutoFit/>
          </a:bodyPr>
          <a:lstStyle/>
          <a:p>
            <a:pPr>
              <a:lnSpc>
                <a:spcPts val="2808"/>
              </a:lnSpc>
              <a:spcBef>
                <a:spcPts val="0"/>
              </a:spcBef>
              <a:spcAft>
                <a:spcPts val="0"/>
              </a:spcAft>
              <a:defRPr sz="2400" b="1">
                <a:solidFill>
                  <a:srgbClr val="183445"/>
                </a:solidFill>
                <a:latin typeface="DejaVu Sans"/>
              </a:defRPr>
            </a:pPr>
            <a:r>
              <a:t>24-hour NWM</a:t>
            </a:r>
          </a:p>
          <a:p>
            <a:pPr>
              <a:lnSpc>
                <a:spcPts val="2808"/>
              </a:lnSpc>
              <a:spcBef>
                <a:spcPts val="0"/>
              </a:spcBef>
              <a:spcAft>
                <a:spcPts val="0"/>
              </a:spcAft>
              <a:defRPr sz="2400" b="1">
                <a:solidFill>
                  <a:srgbClr val="183445"/>
                </a:solidFill>
                <a:latin typeface="DejaVu Sans"/>
              </a:defRPr>
            </a:pPr>
            <a:r>
              <a:t>run</a:t>
            </a:r>
          </a:p>
        </p:txBody>
      </p:sp>
      <p:sp>
        <p:nvSpPr>
          <p:cNvPr id="14" name="Rounded Rectangle 13"/>
          <p:cNvSpPr/>
          <p:nvPr/>
        </p:nvSpPr>
        <p:spPr>
          <a:xfrm>
            <a:off x="3840480" y="3383280"/>
            <a:ext cx="5760720" cy="640080"/>
          </a:xfrm>
          <a:prstGeom prst="round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3547872"/>
            <a:ext cx="5394960" cy="411480"/>
          </a:xfrm>
          <a:prstGeom prst="rect">
            <a:avLst/>
          </a:prstGeom>
          <a:noFill/>
        </p:spPr>
        <p:txBody>
          <a:bodyPr wrap="none" lIns="0" rIns="0" tIns="0" bIns="0">
            <a:spAutoFit/>
          </a:bodyPr>
          <a:lstStyle/>
          <a:p>
            <a:pPr>
              <a:lnSpc>
                <a:spcPts val="2690"/>
              </a:lnSpc>
              <a:spcBef>
                <a:spcPts val="0"/>
              </a:spcBef>
              <a:spcAft>
                <a:spcPts val="0"/>
              </a:spcAft>
              <a:defRPr sz="2300" b="1">
                <a:solidFill>
                  <a:srgbClr val="FFFFFF"/>
                </a:solidFill>
                <a:latin typeface="DejaVu Sans"/>
              </a:defRPr>
            </a:pPr>
            <a:r>
              <a:t>Reads D 01 … D+1 00</a:t>
            </a:r>
          </a:p>
        </p:txBody>
      </p:sp>
      <p:sp>
        <p:nvSpPr>
          <p:cNvPr id="16" name="TextBox 15"/>
          <p:cNvSpPr txBox="1"/>
          <p:nvPr/>
        </p:nvSpPr>
        <p:spPr>
          <a:xfrm>
            <a:off x="640080" y="4617720"/>
            <a:ext cx="2834640" cy="640080"/>
          </a:xfrm>
          <a:prstGeom prst="rect">
            <a:avLst/>
          </a:prstGeom>
          <a:noFill/>
        </p:spPr>
        <p:txBody>
          <a:bodyPr wrap="none" lIns="0" rIns="0" tIns="0" bIns="0">
            <a:spAutoFit/>
          </a:bodyPr>
          <a:lstStyle/>
          <a:p>
            <a:pPr>
              <a:lnSpc>
                <a:spcPts val="2808"/>
              </a:lnSpc>
              <a:spcBef>
                <a:spcPts val="0"/>
              </a:spcBef>
              <a:spcAft>
                <a:spcPts val="0"/>
              </a:spcAft>
              <a:defRPr sz="2400" b="1">
                <a:solidFill>
                  <a:srgbClr val="183445"/>
                </a:solidFill>
                <a:latin typeface="DejaVu Sans"/>
              </a:defRPr>
            </a:pPr>
            <a:r>
              <a:t>PRISM rain day</a:t>
            </a:r>
          </a:p>
        </p:txBody>
      </p:sp>
      <p:sp>
        <p:nvSpPr>
          <p:cNvPr id="17" name="Rounded Rectangle 16"/>
          <p:cNvSpPr/>
          <p:nvPr/>
        </p:nvSpPr>
        <p:spPr>
          <a:xfrm>
            <a:off x="3657600" y="4572000"/>
            <a:ext cx="7863840" cy="640080"/>
          </a:xfrm>
          <a:prstGeom prst="roundRect">
            <a:avLst/>
          </a:prstGeom>
          <a:solidFill>
            <a:srgbClr val="E3E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0" y="4736592"/>
            <a:ext cx="7498079" cy="411480"/>
          </a:xfrm>
          <a:prstGeom prst="rect">
            <a:avLst/>
          </a:prstGeom>
          <a:noFill/>
        </p:spPr>
        <p:txBody>
          <a:bodyPr wrap="none" lIns="0" rIns="0" tIns="0" bIns="0">
            <a:spAutoFit/>
          </a:bodyPr>
          <a:lstStyle/>
          <a:p>
            <a:pPr>
              <a:lnSpc>
                <a:spcPts val="2457"/>
              </a:lnSpc>
              <a:spcBef>
                <a:spcPts val="0"/>
              </a:spcBef>
              <a:spcAft>
                <a:spcPts val="0"/>
              </a:spcAft>
              <a:defRPr sz="2100" b="0">
                <a:solidFill>
                  <a:srgbClr val="183445"/>
                </a:solidFill>
                <a:latin typeface="DejaVu Sans"/>
              </a:defRPr>
            </a:pPr>
            <a:r>
              <a:t>12–12 UTC window → recombine to calendar files</a:t>
            </a:r>
          </a:p>
        </p:txBody>
      </p:sp>
      <p:sp>
        <p:nvSpPr>
          <p:cNvPr id="19" name="Rounded Rectangle 18"/>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For a full UTC-day simulation, also supply hour 00 from the next 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Quality safeguards users should know</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A complete file is necessary—but not evidence of perfect accuracy.</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17</a:t>
            </a:r>
          </a:p>
        </p:txBody>
      </p:sp>
      <p:sp>
        <p:nvSpPr>
          <p:cNvPr id="8" name="Rounded Rectangle 7"/>
          <p:cNvSpPr/>
          <p:nvPr/>
        </p:nvSpPr>
        <p:spPr>
          <a:xfrm>
            <a:off x="457200" y="210312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0312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8600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CNRFC precipitation</a:t>
            </a:r>
          </a:p>
        </p:txBody>
      </p:sp>
      <p:sp>
        <p:nvSpPr>
          <p:cNvPr id="11" name="TextBox 10"/>
          <p:cNvSpPr txBox="1"/>
          <p:nvPr/>
        </p:nvSpPr>
        <p:spPr>
          <a:xfrm>
            <a:off x="640080" y="274320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Since July 2020: use trusted 6-hour totals,</a:t>
            </a:r>
          </a:p>
          <a:p>
            <a:pPr>
              <a:lnSpc>
                <a:spcPts val="2106"/>
              </a:lnSpc>
              <a:spcBef>
                <a:spcPts val="0"/>
              </a:spcBef>
              <a:spcAft>
                <a:spcPts val="0"/>
              </a:spcAft>
              <a:defRPr sz="1800" b="0">
                <a:solidFill>
                  <a:srgbClr val="183445"/>
                </a:solidFill>
                <a:latin typeface="DejaVu Sans"/>
              </a:defRPr>
            </a:pPr>
            <a:r>
              <a:t>not striped hourly timing.</a:t>
            </a:r>
          </a:p>
        </p:txBody>
      </p:sp>
      <p:sp>
        <p:nvSpPr>
          <p:cNvPr id="12" name="Rounded Rectangle 11"/>
          <p:cNvSpPr/>
          <p:nvPr/>
        </p:nvSpPr>
        <p:spPr>
          <a:xfrm>
            <a:off x="6217920" y="210312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10312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28600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Coverage envelope</a:t>
            </a:r>
          </a:p>
        </p:txBody>
      </p:sp>
      <p:sp>
        <p:nvSpPr>
          <p:cNvPr id="15" name="TextBox 14"/>
          <p:cNvSpPr txBox="1"/>
          <p:nvPr/>
        </p:nvSpPr>
        <p:spPr>
          <a:xfrm>
            <a:off x="6400800" y="274320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Fill required active cells; control offshore</a:t>
            </a:r>
          </a:p>
          <a:p>
            <a:pPr>
              <a:lnSpc>
                <a:spcPts val="2106"/>
              </a:lnSpc>
              <a:spcBef>
                <a:spcPts val="0"/>
              </a:spcBef>
              <a:spcAft>
                <a:spcPts val="0"/>
              </a:spcAft>
              <a:defRPr sz="1800" b="0">
                <a:solidFill>
                  <a:srgbClr val="183445"/>
                </a:solidFill>
                <a:latin typeface="DejaVu Sans"/>
              </a:defRPr>
            </a:pPr>
            <a:r>
              <a:t>extrapolation.</a:t>
            </a:r>
          </a:p>
        </p:txBody>
      </p:sp>
      <p:sp>
        <p:nvSpPr>
          <p:cNvPr id="16" name="Rounded Rectangle 15"/>
          <p:cNvSpPr/>
          <p:nvPr/>
        </p:nvSpPr>
        <p:spPr>
          <a:xfrm>
            <a:off x="457200" y="384048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4048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Physics + publication</a:t>
            </a:r>
          </a:p>
        </p:txBody>
      </p:sp>
      <p:sp>
        <p:nvSpPr>
          <p:cNvPr id="19" name="TextBox 18"/>
          <p:cNvSpPr txBox="1"/>
          <p:nvPr/>
        </p:nvSpPr>
        <p:spPr>
          <a:xfrm>
            <a:off x="640080" y="448056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Check coupled fields, timestamps, source</a:t>
            </a:r>
          </a:p>
          <a:p>
            <a:pPr>
              <a:lnSpc>
                <a:spcPts val="2106"/>
              </a:lnSpc>
              <a:spcBef>
                <a:spcPts val="0"/>
              </a:spcBef>
              <a:spcAft>
                <a:spcPts val="0"/>
              </a:spcAft>
              <a:defRPr sz="1800" b="0">
                <a:solidFill>
                  <a:srgbClr val="183445"/>
                </a:solidFill>
                <a:latin typeface="DejaVu Sans"/>
              </a:defRPr>
            </a:pPr>
            <a:r>
              <a:t>provenance and file integrity.</a:t>
            </a:r>
          </a:p>
        </p:txBody>
      </p:sp>
      <p:sp>
        <p:nvSpPr>
          <p:cNvPr id="20" name="Rounded Rectangle 19"/>
          <p:cNvSpPr/>
          <p:nvPr/>
        </p:nvSpPr>
        <p:spPr>
          <a:xfrm>
            <a:off x="6217920" y="384048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84048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02336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Known limits</a:t>
            </a:r>
          </a:p>
        </p:txBody>
      </p:sp>
      <p:sp>
        <p:nvSpPr>
          <p:cNvPr id="23" name="TextBox 22"/>
          <p:cNvSpPr txBox="1"/>
          <p:nvPr/>
        </p:nvSpPr>
        <p:spPr>
          <a:xfrm>
            <a:off x="6400800" y="448056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No universal “best source”; independent</a:t>
            </a:r>
          </a:p>
          <a:p>
            <a:pPr>
              <a:lnSpc>
                <a:spcPts val="2106"/>
              </a:lnSpc>
              <a:spcBef>
                <a:spcPts val="0"/>
              </a:spcBef>
              <a:spcAft>
                <a:spcPts val="0"/>
              </a:spcAft>
              <a:defRPr sz="1800" b="0">
                <a:solidFill>
                  <a:srgbClr val="183445"/>
                </a:solidFill>
                <a:latin typeface="DejaVu Sans"/>
              </a:defRPr>
            </a:pPr>
            <a:r>
              <a:t>validation remains future work.</a:t>
            </a:r>
          </a:p>
        </p:txBody>
      </p:sp>
      <p:sp>
        <p:nvSpPr>
          <p:cNvPr id="24" name="Rounded Rectangle 23"/>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Fine spacing + stable status + model-read success ≠ proven accuracy.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Find, inspect, then use</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Consumers need the stream, valid-hour coverage and publication provenance.</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18</a:t>
            </a:r>
          </a:p>
        </p:txBody>
      </p:sp>
      <p:sp>
        <p:nvSpPr>
          <p:cNvPr id="8" name="Rounded Rectangle 7"/>
          <p:cNvSpPr/>
          <p:nvPr/>
        </p:nvSpPr>
        <p:spPr>
          <a:xfrm>
            <a:off x="457200" y="2103120"/>
            <a:ext cx="11247120" cy="1005840"/>
          </a:xfrm>
          <a:prstGeom prst="roundRect">
            <a:avLst/>
          </a:prstGeom>
          <a:solidFill>
            <a:srgbClr val="132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50008"/>
            <a:ext cx="10789920" cy="685800"/>
          </a:xfrm>
          <a:prstGeom prst="rect">
            <a:avLst/>
          </a:prstGeom>
          <a:noFill/>
        </p:spPr>
        <p:txBody>
          <a:bodyPr wrap="none" lIns="0" rIns="0" tIns="0" bIns="0">
            <a:spAutoFit/>
          </a:bodyPr>
          <a:lstStyle/>
          <a:p>
            <a:pPr>
              <a:lnSpc>
                <a:spcPts val="2574"/>
              </a:lnSpc>
              <a:spcBef>
                <a:spcPts val="0"/>
              </a:spcBef>
              <a:spcAft>
                <a:spcPts val="0"/>
              </a:spcAft>
              <a:defRPr sz="2200" b="1">
                <a:solidFill>
                  <a:srgbClr val="FFFFFF"/>
                </a:solidFill>
                <a:latin typeface="DejaVu Sans"/>
              </a:defRPr>
            </a:pPr>
            <a:r>
              <a:t>forcing/outputs/conus/{nrt,retro}/YYYY/MM/</a:t>
            </a:r>
          </a:p>
          <a:p>
            <a:pPr>
              <a:lnSpc>
                <a:spcPts val="2574"/>
              </a:lnSpc>
              <a:spcBef>
                <a:spcPts val="0"/>
              </a:spcBef>
              <a:spcAft>
                <a:spcPts val="0"/>
              </a:spcAft>
              <a:defRPr sz="2200" b="1">
                <a:solidFill>
                  <a:srgbClr val="FFFFFF"/>
                </a:solidFill>
                <a:latin typeface="DejaVu Sans"/>
              </a:defRPr>
            </a:pPr>
            <a:r>
              <a:t>YYYYMMDD.LDASIN_DOMAIN1</a:t>
            </a:r>
          </a:p>
        </p:txBody>
      </p:sp>
      <p:sp>
        <p:nvSpPr>
          <p:cNvPr id="10" name="Rounded Rectangle 9"/>
          <p:cNvSpPr/>
          <p:nvPr/>
        </p:nvSpPr>
        <p:spPr>
          <a:xfrm>
            <a:off x="457200" y="3474720"/>
            <a:ext cx="352044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474720"/>
            <a:ext cx="54864"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65760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Choose stream</a:t>
            </a:r>
          </a:p>
        </p:txBody>
      </p:sp>
      <p:sp>
        <p:nvSpPr>
          <p:cNvPr id="13" name="TextBox 12"/>
          <p:cNvSpPr txBox="1"/>
          <p:nvPr/>
        </p:nvSpPr>
        <p:spPr>
          <a:xfrm>
            <a:off x="640080" y="4389120"/>
            <a:ext cx="3154680" cy="8961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NRT for operational</a:t>
            </a:r>
          </a:p>
          <a:p>
            <a:pPr>
              <a:lnSpc>
                <a:spcPts val="2340"/>
              </a:lnSpc>
              <a:spcBef>
                <a:spcPts val="0"/>
              </a:spcBef>
              <a:spcAft>
                <a:spcPts val="0"/>
              </a:spcAft>
              <a:defRPr sz="2000" b="0">
                <a:solidFill>
                  <a:srgbClr val="183445"/>
                </a:solidFill>
                <a:latin typeface="DejaVu Sans"/>
              </a:defRPr>
            </a:pPr>
            <a:r>
              <a:t>replay</a:t>
            </a:r>
          </a:p>
          <a:p>
            <a:pPr>
              <a:lnSpc>
                <a:spcPts val="2340"/>
              </a:lnSpc>
              <a:spcBef>
                <a:spcPts val="0"/>
              </a:spcBef>
              <a:spcAft>
                <a:spcPts val="0"/>
              </a:spcAft>
              <a:defRPr sz="2000" b="0">
                <a:solidFill>
                  <a:srgbClr val="183445"/>
                </a:solidFill>
                <a:latin typeface="DejaVu Sans"/>
              </a:defRPr>
            </a:pPr>
            <a:r>
              <a:t>Retro for stable history</a:t>
            </a:r>
          </a:p>
        </p:txBody>
      </p:sp>
      <p:sp>
        <p:nvSpPr>
          <p:cNvPr id="14" name="Rounded Rectangle 13"/>
          <p:cNvSpPr/>
          <p:nvPr/>
        </p:nvSpPr>
        <p:spPr>
          <a:xfrm>
            <a:off x="4297680" y="3474720"/>
            <a:ext cx="352044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3474720"/>
            <a:ext cx="54864"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365760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Check status</a:t>
            </a:r>
          </a:p>
        </p:txBody>
      </p:sp>
      <p:sp>
        <p:nvSpPr>
          <p:cNvPr id="17" name="TextBox 16"/>
          <p:cNvSpPr txBox="1"/>
          <p:nvPr/>
        </p:nvSpPr>
        <p:spPr>
          <a:xfrm>
            <a:off x="4480560" y="4389120"/>
            <a:ext cx="3154680" cy="8961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python bin/</a:t>
            </a:r>
          </a:p>
          <a:p>
            <a:pPr>
              <a:lnSpc>
                <a:spcPts val="2340"/>
              </a:lnSpc>
              <a:spcBef>
                <a:spcPts val="0"/>
              </a:spcBef>
              <a:spcAft>
                <a:spcPts val="0"/>
              </a:spcAft>
              <a:defRPr sz="2000" b="0">
                <a:solidFill>
                  <a:srgbClr val="183445"/>
                </a:solidFill>
                <a:latin typeface="DejaVu Sans"/>
              </a:defRPr>
            </a:pPr>
            <a:r>
              <a:t>report_forcing_status.py</a:t>
            </a:r>
          </a:p>
        </p:txBody>
      </p:sp>
      <p:sp>
        <p:nvSpPr>
          <p:cNvPr id="18" name="Rounded Rectangle 17"/>
          <p:cNvSpPr/>
          <p:nvPr/>
        </p:nvSpPr>
        <p:spPr>
          <a:xfrm>
            <a:off x="8138160" y="3474720"/>
            <a:ext cx="352044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3474720"/>
            <a:ext cx="54864"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657600"/>
            <a:ext cx="315468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Check interval</a:t>
            </a:r>
          </a:p>
        </p:txBody>
      </p:sp>
      <p:sp>
        <p:nvSpPr>
          <p:cNvPr id="21" name="TextBox 20"/>
          <p:cNvSpPr txBox="1"/>
          <p:nvPr/>
        </p:nvSpPr>
        <p:spPr>
          <a:xfrm>
            <a:off x="8321040" y="4389120"/>
            <a:ext cx="3154680" cy="89611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24 records per day</a:t>
            </a:r>
          </a:p>
          <a:p>
            <a:pPr>
              <a:lnSpc>
                <a:spcPts val="2340"/>
              </a:lnSpc>
              <a:spcBef>
                <a:spcPts val="0"/>
              </a:spcBef>
              <a:spcAft>
                <a:spcPts val="0"/>
              </a:spcAft>
              <a:defRPr sz="2000" b="0">
                <a:solidFill>
                  <a:srgbClr val="183445"/>
                </a:solidFill>
                <a:latin typeface="DejaVu Sans"/>
              </a:defRPr>
            </a:pPr>
            <a:r>
              <a:t>Next-day 00 for NWM</a:t>
            </a:r>
          </a:p>
        </p:txBody>
      </p:sp>
      <p:sp>
        <p:nvSpPr>
          <p:cNvPr id="22" name="Rounded Rectangle 21"/>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Save source/version metadata with your experiment. NRT files can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PRODUCT GUIDE</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What is ready—and what is not yet promised</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User expectations as of 19 September 2026</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19</a:t>
            </a:r>
          </a:p>
        </p:txBody>
      </p:sp>
      <p:sp>
        <p:nvSpPr>
          <p:cNvPr id="8" name="Rounded Rectangle 7"/>
          <p:cNvSpPr/>
          <p:nvPr/>
        </p:nvSpPr>
        <p:spPr>
          <a:xfrm>
            <a:off x="457200" y="2194560"/>
            <a:ext cx="548640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94560"/>
            <a:ext cx="54864" cy="32004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7744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Implemented + tested</a:t>
            </a:r>
          </a:p>
        </p:txBody>
      </p:sp>
      <p:sp>
        <p:nvSpPr>
          <p:cNvPr id="11" name="TextBox 10"/>
          <p:cNvSpPr txBox="1"/>
          <p:nvPr/>
        </p:nvSpPr>
        <p:spPr>
          <a:xfrm>
            <a:off x="640080" y="3108960"/>
            <a:ext cx="5120640" cy="21762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Required GFS northern fallback</a:t>
            </a:r>
          </a:p>
          <a:p>
            <a:pPr>
              <a:lnSpc>
                <a:spcPts val="2340"/>
              </a:lnSpc>
              <a:spcBef>
                <a:spcPts val="0"/>
              </a:spcBef>
              <a:spcAft>
                <a:spcPts val="0"/>
              </a:spcAft>
              <a:defRPr sz="2000" b="0">
                <a:solidFill>
                  <a:srgbClr val="183445"/>
                </a:solidFill>
                <a:latin typeface="DejaVu Sans"/>
              </a:defRPr>
            </a:pPr>
            <a:r>
              <a:t>NLDAS arrival / PRISM revisions</a:t>
            </a:r>
          </a:p>
          <a:p>
            <a:pPr>
              <a:lnSpc>
                <a:spcPts val="2340"/>
              </a:lnSpc>
              <a:spcBef>
                <a:spcPts val="0"/>
              </a:spcBef>
              <a:spcAft>
                <a:spcPts val="0"/>
              </a:spcAft>
              <a:defRPr sz="2000" b="0">
                <a:solidFill>
                  <a:srgbClr val="183445"/>
                </a:solidFill>
                <a:latin typeface="DejaVu Sans"/>
              </a:defRPr>
            </a:pPr>
            <a:r>
              <a:t>Separate NRT and Retro products</a:t>
            </a:r>
          </a:p>
          <a:p>
            <a:pPr>
              <a:lnSpc>
                <a:spcPts val="2340"/>
              </a:lnSpc>
              <a:spcBef>
                <a:spcPts val="0"/>
              </a:spcBef>
              <a:spcAft>
                <a:spcPts val="0"/>
              </a:spcAft>
              <a:defRPr sz="2000" b="0">
                <a:solidFill>
                  <a:srgbClr val="183445"/>
                </a:solidFill>
                <a:latin typeface="DejaVu Sans"/>
              </a:defRPr>
            </a:pPr>
            <a:r>
              <a:t>Failure-safe publication</a:t>
            </a:r>
          </a:p>
        </p:txBody>
      </p:sp>
      <p:sp>
        <p:nvSpPr>
          <p:cNvPr id="12" name="Rounded Rectangle 11"/>
          <p:cNvSpPr/>
          <p:nvPr/>
        </p:nvSpPr>
        <p:spPr>
          <a:xfrm>
            <a:off x="6217920" y="2194560"/>
            <a:ext cx="548640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194560"/>
            <a:ext cx="54864" cy="3200400"/>
          </a:xfrm>
          <a:prstGeom prst="rect">
            <a:avLst/>
          </a:prstGeom>
          <a:solidFill>
            <a:srgbClr val="DDA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DDA530"/>
                </a:solidFill>
                <a:latin typeface="DejaVu Sans"/>
              </a:defRPr>
            </a:pPr>
            <a:r>
              <a:t>Still gated</a:t>
            </a:r>
          </a:p>
        </p:txBody>
      </p:sp>
      <p:sp>
        <p:nvSpPr>
          <p:cNvPr id="15" name="TextBox 14"/>
          <p:cNvSpPr txBox="1"/>
          <p:nvPr/>
        </p:nvSpPr>
        <p:spPr>
          <a:xfrm>
            <a:off x="6400800" y="3108960"/>
            <a:ext cx="5120640" cy="2176272"/>
          </a:xfrm>
          <a:prstGeom prst="rect">
            <a:avLst/>
          </a:prstGeom>
          <a:noFill/>
        </p:spPr>
        <p:txBody>
          <a:bodyPr wrap="none" lIns="0" rIns="0" tIns="0" bIns="0">
            <a:spAutoFit/>
          </a:bodyPr>
          <a:lstStyle/>
          <a:p>
            <a:pPr>
              <a:lnSpc>
                <a:spcPts val="2340"/>
              </a:lnSpc>
              <a:spcBef>
                <a:spcPts val="0"/>
              </a:spcBef>
              <a:spcAft>
                <a:spcPts val="0"/>
              </a:spcAft>
              <a:defRPr sz="2000" b="0">
                <a:solidFill>
                  <a:srgbClr val="183445"/>
                </a:solidFill>
                <a:latin typeface="DejaVu Sans"/>
              </a:defRPr>
            </a:pPr>
            <a:r>
              <a:t>Live cron coordination</a:t>
            </a:r>
          </a:p>
          <a:p>
            <a:pPr>
              <a:lnSpc>
                <a:spcPts val="2340"/>
              </a:lnSpc>
              <a:spcBef>
                <a:spcPts val="0"/>
              </a:spcBef>
              <a:spcAft>
                <a:spcPts val="0"/>
              </a:spcAft>
              <a:defRPr sz="2000" b="0">
                <a:solidFill>
                  <a:srgbClr val="183445"/>
                </a:solidFill>
                <a:latin typeface="DejaVu Sans"/>
              </a:defRPr>
            </a:pPr>
            <a:r>
              <a:t>Consistent sub-hour delivery</a:t>
            </a:r>
          </a:p>
          <a:p>
            <a:pPr>
              <a:lnSpc>
                <a:spcPts val="2340"/>
              </a:lnSpc>
              <a:spcBef>
                <a:spcPts val="0"/>
              </a:spcBef>
              <a:spcAft>
                <a:spcPts val="0"/>
              </a:spcAft>
              <a:defRPr sz="2000" b="0">
                <a:solidFill>
                  <a:srgbClr val="183445"/>
                </a:solidFill>
                <a:latin typeface="DejaVu Sans"/>
              </a:defRPr>
            </a:pPr>
            <a:r>
              <a:t>Partial-current-day publication</a:t>
            </a:r>
          </a:p>
          <a:p>
            <a:pPr>
              <a:lnSpc>
                <a:spcPts val="2340"/>
              </a:lnSpc>
              <a:spcBef>
                <a:spcPts val="0"/>
              </a:spcBef>
              <a:spcAft>
                <a:spcPts val="0"/>
              </a:spcAft>
              <a:defRPr sz="2000" b="0">
                <a:solidFill>
                  <a:srgbClr val="183445"/>
                </a:solidFill>
                <a:latin typeface="DejaVu Sans"/>
              </a:defRPr>
            </a:pPr>
            <a:r>
              <a:t>Independent accuracy validation</a:t>
            </a:r>
          </a:p>
        </p:txBody>
      </p:sp>
      <p:sp>
        <p:nvSpPr>
          <p:cNvPr id="16" name="Rounded Rectangle 15"/>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Use the latest inventory for availability; use provenance for reproducibility.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256032"/>
          </a:xfrm>
          <a:prstGeom prst="rect">
            <a:avLst/>
          </a:prstGeom>
          <a:noFill/>
        </p:spPr>
        <p:txBody>
          <a:bodyPr wrap="none" lIns="0" rIns="0" tIns="0" bIns="0">
            <a:spAutoFit/>
          </a:bodyPr>
          <a:lstStyle/>
          <a:p>
            <a:pPr>
              <a:lnSpc>
                <a:spcPts val="1287"/>
              </a:lnSpc>
              <a:spcBef>
                <a:spcPts val="0"/>
              </a:spcBef>
              <a:spcAft>
                <a:spcPts val="0"/>
              </a:spcAft>
              <a:defRPr sz="1100" b="1">
                <a:solidFill>
                  <a:srgbClr val="087F8C"/>
                </a:solidFill>
                <a:latin typeface="DejaVu Sans"/>
              </a:defRPr>
            </a:pPr>
            <a:r>
              <a:t>REFERENCE / OPTIONAL APPENDIX</a:t>
            </a:r>
          </a:p>
        </p:txBody>
      </p:sp>
      <p:sp>
        <p:nvSpPr>
          <p:cNvPr id="4" name="TextBox 3"/>
          <p:cNvSpPr txBox="1"/>
          <p:nvPr/>
        </p:nvSpPr>
        <p:spPr>
          <a:xfrm>
            <a:off x="457200" y="685800"/>
            <a:ext cx="11247120" cy="640080"/>
          </a:xfrm>
          <a:prstGeom prst="rect">
            <a:avLst/>
          </a:prstGeom>
          <a:noFill/>
        </p:spPr>
        <p:txBody>
          <a:bodyPr wrap="none" lIns="0" rIns="0" tIns="0" bIns="0">
            <a:spAutoFit/>
          </a:bodyPr>
          <a:lstStyle/>
          <a:p>
            <a:pPr>
              <a:lnSpc>
                <a:spcPts val="3744"/>
              </a:lnSpc>
              <a:spcBef>
                <a:spcPts val="0"/>
              </a:spcBef>
              <a:spcAft>
                <a:spcPts val="0"/>
              </a:spcAft>
              <a:defRPr sz="3200" b="1">
                <a:solidFill>
                  <a:srgbClr val="183445"/>
                </a:solidFill>
                <a:latin typeface="DejaVu Sans"/>
              </a:defRPr>
            </a:pPr>
            <a:r>
              <a:t>Source guide &amp; further reading</a:t>
            </a:r>
          </a:p>
        </p:txBody>
      </p:sp>
      <p:sp>
        <p:nvSpPr>
          <p:cNvPr id="5" name="TextBox 4"/>
          <p:cNvSpPr txBox="1"/>
          <p:nvPr/>
        </p:nvSpPr>
        <p:spPr>
          <a:xfrm>
            <a:off x="457200" y="1353312"/>
            <a:ext cx="11247120" cy="594360"/>
          </a:xfrm>
          <a:prstGeom prst="rect">
            <a:avLst/>
          </a:prstGeom>
          <a:noFill/>
        </p:spPr>
        <p:txBody>
          <a:bodyPr wrap="none" lIns="0" rIns="0" tIns="0" bIns="0">
            <a:spAutoFit/>
          </a:bodyPr>
          <a:lstStyle/>
          <a:p>
            <a:pPr>
              <a:lnSpc>
                <a:spcPts val="2106"/>
              </a:lnSpc>
              <a:spcBef>
                <a:spcPts val="0"/>
              </a:spcBef>
              <a:spcAft>
                <a:spcPts val="0"/>
              </a:spcAft>
              <a:defRPr sz="1800" b="0">
                <a:solidFill>
                  <a:srgbClr val="526674"/>
                </a:solidFill>
                <a:latin typeface="DejaVu Sans"/>
              </a:defRPr>
            </a:pPr>
            <a:r>
              <a:t>Official provider details and project methods are linked in slide notes.</a:t>
            </a:r>
          </a:p>
        </p:txBody>
      </p:sp>
      <p:sp>
        <p:nvSpPr>
          <p:cNvPr id="6" name="TextBox 5"/>
          <p:cNvSpPr txBox="1"/>
          <p:nvPr/>
        </p:nvSpPr>
        <p:spPr>
          <a:xfrm>
            <a:off x="457200" y="6510528"/>
            <a:ext cx="10698480" cy="182880"/>
          </a:xfrm>
          <a:prstGeom prst="rect">
            <a:avLst/>
          </a:prstGeom>
          <a:noFill/>
        </p:spPr>
        <p:txBody>
          <a:bodyPr wrap="none" lIns="0" rIns="0" tIns="0" bIns="0">
            <a:spAutoFit/>
          </a:bodyPr>
          <a:lstStyle/>
          <a:p>
            <a:pPr>
              <a:lnSpc>
                <a:spcPts val="1053"/>
              </a:lnSpc>
              <a:spcBef>
                <a:spcPts val="0"/>
              </a:spcBef>
              <a:spcAft>
                <a:spcPts val="0"/>
              </a:spcAft>
              <a:defRPr sz="900" b="0">
                <a:solidFill>
                  <a:srgbClr val="526674"/>
                </a:solidFill>
                <a:latin typeface="DejaVu Sans"/>
              </a:defRPr>
            </a:pPr>
            <a:r>
              <a:t>HYDRO OPS / FORCING PRODUCTS / DESIGN SNAPSHOT: 19 SEP 2026</a:t>
            </a:r>
          </a:p>
        </p:txBody>
      </p:sp>
      <p:sp>
        <p:nvSpPr>
          <p:cNvPr id="7" name="TextBox 6"/>
          <p:cNvSpPr txBox="1"/>
          <p:nvPr/>
        </p:nvSpPr>
        <p:spPr>
          <a:xfrm>
            <a:off x="11292840" y="6446520"/>
            <a:ext cx="457200" cy="274320"/>
          </a:xfrm>
          <a:prstGeom prst="rect">
            <a:avLst/>
          </a:prstGeom>
          <a:noFill/>
        </p:spPr>
        <p:txBody>
          <a:bodyPr wrap="none" lIns="0" rIns="0" tIns="0" bIns="0">
            <a:spAutoFit/>
          </a:bodyPr>
          <a:lstStyle/>
          <a:p>
            <a:pPr>
              <a:lnSpc>
                <a:spcPts val="1404"/>
              </a:lnSpc>
              <a:spcBef>
                <a:spcPts val="0"/>
              </a:spcBef>
              <a:spcAft>
                <a:spcPts val="0"/>
              </a:spcAft>
              <a:defRPr sz="1200" b="1">
                <a:solidFill>
                  <a:srgbClr val="087F8C"/>
                </a:solidFill>
                <a:latin typeface="DejaVu Sans"/>
              </a:defRPr>
            </a:pPr>
            <a:r>
              <a:t>20</a:t>
            </a:r>
          </a:p>
        </p:txBody>
      </p:sp>
      <p:sp>
        <p:nvSpPr>
          <p:cNvPr id="8" name="Rounded Rectangle 7"/>
          <p:cNvSpPr/>
          <p:nvPr/>
        </p:nvSpPr>
        <p:spPr>
          <a:xfrm>
            <a:off x="457200" y="205740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5740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4028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NOAA / NASA</a:t>
            </a:r>
          </a:p>
        </p:txBody>
      </p:sp>
      <p:sp>
        <p:nvSpPr>
          <p:cNvPr id="11" name="TextBox 10"/>
          <p:cNvSpPr txBox="1"/>
          <p:nvPr/>
        </p:nvSpPr>
        <p:spPr>
          <a:xfrm>
            <a:off x="640080" y="269748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MRMS • Stage-IV • HRRR • GFS</a:t>
            </a:r>
          </a:p>
          <a:p>
            <a:pPr>
              <a:lnSpc>
                <a:spcPts val="2106"/>
              </a:lnSpc>
              <a:spcBef>
                <a:spcPts val="0"/>
              </a:spcBef>
              <a:spcAft>
                <a:spcPts val="0"/>
              </a:spcAft>
              <a:defRPr sz="1800" b="0">
                <a:solidFill>
                  <a:srgbClr val="183445"/>
                </a:solidFill>
                <a:latin typeface="DejaVu Sans"/>
              </a:defRPr>
            </a:pPr>
            <a:r>
              <a:t>NLDAS-2 forcing documentation</a:t>
            </a:r>
          </a:p>
        </p:txBody>
      </p:sp>
      <p:sp>
        <p:nvSpPr>
          <p:cNvPr id="12" name="Rounded Rectangle 11"/>
          <p:cNvSpPr/>
          <p:nvPr/>
        </p:nvSpPr>
        <p:spPr>
          <a:xfrm>
            <a:off x="6217920" y="205740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05740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24028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Oregon State PRISM</a:t>
            </a:r>
          </a:p>
        </p:txBody>
      </p:sp>
      <p:sp>
        <p:nvSpPr>
          <p:cNvPr id="15" name="TextBox 14"/>
          <p:cNvSpPr txBox="1"/>
          <p:nvPr/>
        </p:nvSpPr>
        <p:spPr>
          <a:xfrm>
            <a:off x="6400800" y="269748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Daily update calendar</a:t>
            </a:r>
          </a:p>
          <a:p>
            <a:pPr>
              <a:lnSpc>
                <a:spcPts val="2106"/>
              </a:lnSpc>
              <a:spcBef>
                <a:spcPts val="0"/>
              </a:spcBef>
              <a:spcAft>
                <a:spcPts val="0"/>
              </a:spcAft>
              <a:defRPr sz="1800" b="0">
                <a:solidFill>
                  <a:srgbClr val="183445"/>
                </a:solidFill>
                <a:latin typeface="DejaVu Sans"/>
              </a:defRPr>
            </a:pPr>
            <a:r>
              <a:t>Grid definitions and revisions</a:t>
            </a:r>
          </a:p>
        </p:txBody>
      </p:sp>
      <p:sp>
        <p:nvSpPr>
          <p:cNvPr id="16" name="Rounded Rectangle 15"/>
          <p:cNvSpPr/>
          <p:nvPr/>
        </p:nvSpPr>
        <p:spPr>
          <a:xfrm>
            <a:off x="457200" y="384048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4048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Project documentation</a:t>
            </a:r>
          </a:p>
        </p:txBody>
      </p:sp>
      <p:sp>
        <p:nvSpPr>
          <p:cNvPr id="19" name="TextBox 18"/>
          <p:cNvSpPr txBox="1"/>
          <p:nvPr/>
        </p:nvSpPr>
        <p:spPr>
          <a:xfrm>
            <a:off x="640080" y="448056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Forcing production workflow</a:t>
            </a:r>
          </a:p>
          <a:p>
            <a:pPr>
              <a:lnSpc>
                <a:spcPts val="2106"/>
              </a:lnSpc>
              <a:spcBef>
                <a:spcPts val="0"/>
              </a:spcBef>
              <a:spcAft>
                <a:spcPts val="0"/>
              </a:spcAft>
              <a:defRPr sz="1800" b="0">
                <a:solidFill>
                  <a:srgbClr val="183445"/>
                </a:solidFill>
                <a:latin typeface="DejaVu Sans"/>
              </a:defRPr>
            </a:pPr>
            <a:r>
              <a:t>NRT GFS operations + time conventions</a:t>
            </a:r>
          </a:p>
        </p:txBody>
      </p:sp>
      <p:sp>
        <p:nvSpPr>
          <p:cNvPr id="20" name="Rounded Rectangle 19"/>
          <p:cNvSpPr/>
          <p:nvPr/>
        </p:nvSpPr>
        <p:spPr>
          <a:xfrm>
            <a:off x="6217920" y="3840480"/>
            <a:ext cx="548640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840480"/>
            <a:ext cx="54864" cy="1600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023360"/>
            <a:ext cx="5120640" cy="594360"/>
          </a:xfrm>
          <a:prstGeom prst="rect">
            <a:avLst/>
          </a:prstGeom>
          <a:noFill/>
        </p:spPr>
        <p:txBody>
          <a:bodyPr wrap="none" lIns="0" rIns="0" tIns="0" bIns="0">
            <a:spAutoFit/>
          </a:bodyPr>
          <a:lstStyle/>
          <a:p>
            <a:pPr>
              <a:lnSpc>
                <a:spcPts val="2457"/>
              </a:lnSpc>
              <a:spcBef>
                <a:spcPts val="0"/>
              </a:spcBef>
              <a:spcAft>
                <a:spcPts val="0"/>
              </a:spcAft>
              <a:defRPr sz="2100" b="1">
                <a:solidFill>
                  <a:srgbClr val="087F8C"/>
                </a:solidFill>
                <a:latin typeface="DejaVu Sans"/>
              </a:defRPr>
            </a:pPr>
            <a:r>
              <a:t>Acceptance evidence</a:t>
            </a:r>
          </a:p>
        </p:txBody>
      </p:sp>
      <p:sp>
        <p:nvSpPr>
          <p:cNvPr id="23" name="TextBox 22"/>
          <p:cNvSpPr txBox="1"/>
          <p:nvPr/>
        </p:nvSpPr>
        <p:spPr>
          <a:xfrm>
            <a:off x="6400800" y="4480560"/>
            <a:ext cx="5120640" cy="850392"/>
          </a:xfrm>
          <a:prstGeom prst="rect">
            <a:avLst/>
          </a:prstGeom>
          <a:noFill/>
        </p:spPr>
        <p:txBody>
          <a:bodyPr wrap="none" lIns="0" rIns="0" tIns="0" bIns="0">
            <a:spAutoFit/>
          </a:bodyPr>
          <a:lstStyle/>
          <a:p>
            <a:pPr>
              <a:lnSpc>
                <a:spcPts val="2106"/>
              </a:lnSpc>
              <a:spcBef>
                <a:spcPts val="0"/>
              </a:spcBef>
              <a:spcAft>
                <a:spcPts val="0"/>
              </a:spcAft>
              <a:defRPr sz="1800" b="0">
                <a:solidFill>
                  <a:srgbClr val="183445"/>
                </a:solidFill>
                <a:latin typeface="DejaVu Sans"/>
              </a:defRPr>
            </a:pPr>
            <a:r>
              <a:t>NRT revision and reliability reports</a:t>
            </a:r>
          </a:p>
          <a:p>
            <a:pPr>
              <a:lnSpc>
                <a:spcPts val="2106"/>
              </a:lnSpc>
              <a:spcBef>
                <a:spcPts val="0"/>
              </a:spcBef>
              <a:spcAft>
                <a:spcPts val="0"/>
              </a:spcAft>
              <a:defRPr sz="1800" b="0">
                <a:solidFill>
                  <a:srgbClr val="183445"/>
                </a:solidFill>
                <a:latin typeface="DejaVu Sans"/>
              </a:defRPr>
            </a:pPr>
            <a:r>
              <a:t>Coverage / quality limitations</a:t>
            </a:r>
          </a:p>
        </p:txBody>
      </p:sp>
      <p:sp>
        <p:nvSpPr>
          <p:cNvPr id="24" name="Rounded Rectangle 23"/>
          <p:cNvSpPr/>
          <p:nvPr/>
        </p:nvSpPr>
        <p:spPr>
          <a:xfrm>
            <a:off x="457200" y="5696712"/>
            <a:ext cx="11247120" cy="566928"/>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815584"/>
            <a:ext cx="10881360" cy="384048"/>
          </a:xfrm>
          <a:prstGeom prst="rect">
            <a:avLst/>
          </a:prstGeom>
          <a:noFill/>
        </p:spPr>
        <p:txBody>
          <a:bodyPr wrap="none" lIns="0" rIns="0" tIns="0" bIns="0">
            <a:spAutoFit/>
          </a:bodyPr>
          <a:lstStyle/>
          <a:p>
            <a:pPr>
              <a:lnSpc>
                <a:spcPts val="2340"/>
              </a:lnSpc>
              <a:spcBef>
                <a:spcPts val="0"/>
              </a:spcBef>
              <a:spcAft>
                <a:spcPts val="0"/>
              </a:spcAft>
              <a:defRPr sz="2000" b="1">
                <a:solidFill>
                  <a:srgbClr val="FFFFFF"/>
                </a:solidFill>
                <a:latin typeface="DejaVu Sans"/>
              </a:defRPr>
            </a:pPr>
            <a:r>
              <a:t>Provider specifications describe inputs. Check local availability separately.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 forcing for CONUS-wide NWM operations</dc:title>
  <dc:subject>User briefing: design, sources, NRT and retrospective products</dc:subject>
  <dc:creator>Hydro Ops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